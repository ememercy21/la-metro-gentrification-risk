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Inter Light"/>
      <p:regular r:id="rId17"/>
      <p:bold r:id="rId18"/>
      <p:italic r:id="rId19"/>
      <p:boldItalic r:id="rId20"/>
    </p:embeddedFon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Light-boldItalic.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Light-regular.fntdata"/><Relationship Id="rId16" Type="http://schemas.openxmlformats.org/officeDocument/2006/relationships/slide" Target="slides/slide11.xml"/><Relationship Id="rId19" Type="http://schemas.openxmlformats.org/officeDocument/2006/relationships/font" Target="fonts/InterLight-italic.fntdata"/><Relationship Id="rId18" Type="http://schemas.openxmlformats.org/officeDocument/2006/relationships/font" Target="fonts/Inter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ceedbac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ceedbac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Focus on findings first (without background), then go back </a:t>
            </a:r>
            <a:r>
              <a:rPr lang="en"/>
              <a:t>through exec summary report. Distance devay plot and boxplots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eceedbace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eceedbace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 Daniel</a:t>
            </a:r>
            <a:endParaRPr/>
          </a:p>
          <a:p>
            <a:pPr indent="0" lvl="0" marL="0" rtl="0" algn="l">
              <a:spcBef>
                <a:spcPts val="0"/>
              </a:spcBef>
              <a:spcAft>
                <a:spcPts val="0"/>
              </a:spcAft>
              <a:buNone/>
            </a:pPr>
            <a:r>
              <a:rPr lang="en"/>
              <a:t>Background: Judith</a:t>
            </a:r>
            <a:endParaRPr/>
          </a:p>
          <a:p>
            <a:pPr indent="0" lvl="0" marL="0" rtl="0" algn="l">
              <a:spcBef>
                <a:spcPts val="0"/>
              </a:spcBef>
              <a:spcAft>
                <a:spcPts val="0"/>
              </a:spcAft>
              <a:buNone/>
            </a:pPr>
            <a:r>
              <a:rPr lang="en"/>
              <a:t>Approach: Approach</a:t>
            </a:r>
            <a:endParaRPr/>
          </a:p>
          <a:p>
            <a:pPr indent="0" lvl="0" marL="0" rtl="0" algn="l">
              <a:spcBef>
                <a:spcPts val="0"/>
              </a:spcBef>
              <a:spcAft>
                <a:spcPts val="0"/>
              </a:spcAft>
              <a:buNone/>
            </a:pPr>
            <a:r>
              <a:rPr lang="en"/>
              <a:t>Discussion: Layla</a:t>
            </a:r>
            <a:endParaRPr/>
          </a:p>
          <a:p>
            <a:pPr indent="0" lvl="0" marL="0" rtl="0" algn="l">
              <a:spcBef>
                <a:spcPts val="0"/>
              </a:spcBef>
              <a:spcAft>
                <a:spcPts val="0"/>
              </a:spcAft>
              <a:buNone/>
            </a:pPr>
            <a:r>
              <a:rPr lang="en"/>
              <a:t>Plots: Mercy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ceedbace3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eceedbace3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eceedbace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eceedbace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ceedbace3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eceedbace3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ceedbace3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eceedbace3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(graphs)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eceedbace3_0_1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eceedbace3_0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(graphs)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eceedbace3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eceedbace3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Implications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sz="1200">
                <a:solidFill>
                  <a:schemeClr val="dk1"/>
                </a:solidFill>
              </a:rPr>
              <a:t>These findings should be read more as an association, not as cause and effect, because the analysis is cross-sectional. It’s capturing a single moment due to the housing data coming from just a 1 year period, and so the analysis cannot show a true mediation effect of how risk will shift as transit access expands over time.</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As such, it also can’t separate which came first between the Metro's influence on an area and the area’s influence on the decision to build a metro line there, since many rails, and particularly the D line expansion, already run through some of the city's most established corridors.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So, proximity may reflect where high-value neighborhoods already sit, or it may be an early signal of pressure that has not yet surfaced. Ultimately, the results point to a pattern that’s worth watching though and studies like these can be helpful in advocating for rent control and used in city planning efforts to offset potential gentrification in the planning of future metro expansions.</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ceedbace3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eceedbace3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ceedbace3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eceedbace3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ceedbace3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eceedbace3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47"/>
          <p:cNvCxnSpPr/>
          <p:nvPr/>
        </p:nvCxnSpPr>
        <p:spPr>
          <a:xfrm>
            <a:off x="283850" y="829656"/>
            <a:ext cx="8573100" cy="0"/>
          </a:xfrm>
          <a:prstGeom prst="straightConnector1">
            <a:avLst/>
          </a:prstGeom>
          <a:noFill/>
          <a:ln cap="flat" cmpd="sng" w="9525">
            <a:solidFill>
              <a:schemeClr val="lt1"/>
            </a:solidFill>
            <a:prstDash val="solid"/>
            <a:round/>
            <a:headEnd len="med" w="med" type="none"/>
            <a:tailEnd len="med" w="med" type="none"/>
          </a:ln>
        </p:spPr>
      </p:cxnSp>
      <p:sp>
        <p:nvSpPr>
          <p:cNvPr id="362" name="Google Shape;362;p4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7"/>
          <p:cNvSpPr txBox="1"/>
          <p:nvPr>
            <p:ph type="title"/>
          </p:nvPr>
        </p:nvSpPr>
        <p:spPr>
          <a:xfrm>
            <a:off x="288625" y="135185"/>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Mind the Gap:</a:t>
            </a:r>
            <a:endParaRPr/>
          </a:p>
          <a:p>
            <a:pPr indent="0" lvl="0" marL="0" rtl="0" algn="l">
              <a:spcBef>
                <a:spcPts val="0"/>
              </a:spcBef>
              <a:spcAft>
                <a:spcPts val="0"/>
              </a:spcAft>
              <a:buNone/>
            </a:pPr>
            <a:r>
              <a:t/>
            </a:r>
            <a:endParaRPr sz="2600"/>
          </a:p>
          <a:p>
            <a:pPr indent="0" lvl="0" marL="0" rtl="0" algn="l">
              <a:spcBef>
                <a:spcPts val="0"/>
              </a:spcBef>
              <a:spcAft>
                <a:spcPts val="0"/>
              </a:spcAft>
              <a:buNone/>
            </a:pPr>
            <a:r>
              <a:rPr b="1" lang="en" sz="4100"/>
              <a:t>How Proximity to Metro Stops Relates to Gentrification of Local Neighborhoods</a:t>
            </a:r>
            <a:endParaRPr b="1" sz="4100"/>
          </a:p>
        </p:txBody>
      </p:sp>
      <p:sp>
        <p:nvSpPr>
          <p:cNvPr id="364" name="Google Shape;364;p47"/>
          <p:cNvSpPr txBox="1"/>
          <p:nvPr>
            <p:ph idx="2"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a:t>
            </a:r>
            <a:r>
              <a:rPr lang="en"/>
              <a:t>Mercy</a:t>
            </a:r>
            <a:r>
              <a:rPr lang="en"/>
              <a:t> Eme, Judith Mendoz, Layla Rainosek, Daniel Rocha</a:t>
            </a:r>
            <a:endParaRPr/>
          </a:p>
        </p:txBody>
      </p:sp>
      <p:sp>
        <p:nvSpPr>
          <p:cNvPr id="365" name="Google Shape;365;p47"/>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366" name="Google Shape;366;p47"/>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UCLA MASDS STATS 405 Final Project</a:t>
            </a:r>
            <a:endParaRPr/>
          </a:p>
        </p:txBody>
      </p:sp>
      <p:cxnSp>
        <p:nvCxnSpPr>
          <p:cNvPr id="367" name="Google Shape;367;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8"/>
          <p:cNvSpPr/>
          <p:nvPr/>
        </p:nvSpPr>
        <p:spPr>
          <a:xfrm>
            <a:off x="283884" y="925663"/>
            <a:ext cx="544800" cy="5448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A</a:t>
            </a:r>
            <a:endParaRPr sz="1800">
              <a:solidFill>
                <a:schemeClr val="dk1"/>
              </a:solidFill>
              <a:latin typeface="Inter"/>
              <a:ea typeface="Inter"/>
              <a:cs typeface="Inter"/>
              <a:sym typeface="Inter"/>
            </a:endParaRPr>
          </a:p>
        </p:txBody>
      </p:sp>
      <p:cxnSp>
        <p:nvCxnSpPr>
          <p:cNvPr id="373" name="Google Shape;373;p48"/>
          <p:cNvCxnSpPr/>
          <p:nvPr/>
        </p:nvCxnSpPr>
        <p:spPr>
          <a:xfrm>
            <a:off x="283850" y="1588956"/>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374" name="Google Shape;374;p48"/>
          <p:cNvCxnSpPr/>
          <p:nvPr/>
        </p:nvCxnSpPr>
        <p:spPr>
          <a:xfrm>
            <a:off x="283850" y="807184"/>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375" name="Google Shape;375;p48"/>
          <p:cNvCxnSpPr/>
          <p:nvPr/>
        </p:nvCxnSpPr>
        <p:spPr>
          <a:xfrm>
            <a:off x="283850" y="3152499"/>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376" name="Google Shape;376;p48"/>
          <p:cNvCxnSpPr/>
          <p:nvPr/>
        </p:nvCxnSpPr>
        <p:spPr>
          <a:xfrm>
            <a:off x="283850" y="2370727"/>
            <a:ext cx="8573100" cy="0"/>
          </a:xfrm>
          <a:prstGeom prst="straightConnector1">
            <a:avLst/>
          </a:prstGeom>
          <a:noFill/>
          <a:ln cap="flat" cmpd="sng" w="9525">
            <a:solidFill>
              <a:schemeClr val="dk1"/>
            </a:solidFill>
            <a:prstDash val="solid"/>
            <a:round/>
            <a:headEnd len="med" w="med" type="none"/>
            <a:tailEnd len="med" w="med" type="none"/>
          </a:ln>
        </p:spPr>
      </p:cxnSp>
      <p:sp>
        <p:nvSpPr>
          <p:cNvPr id="377" name="Google Shape;377;p48"/>
          <p:cNvSpPr/>
          <p:nvPr/>
        </p:nvSpPr>
        <p:spPr>
          <a:xfrm>
            <a:off x="283884" y="1707425"/>
            <a:ext cx="544800" cy="544800"/>
          </a:xfrm>
          <a:prstGeom prst="ellipse">
            <a:avLst/>
          </a:prstGeom>
          <a:solidFill>
            <a:srgbClr val="D4373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B</a:t>
            </a:r>
            <a:endParaRPr sz="1800">
              <a:solidFill>
                <a:schemeClr val="dk1"/>
              </a:solidFill>
              <a:latin typeface="Inter"/>
              <a:ea typeface="Inter"/>
              <a:cs typeface="Inter"/>
              <a:sym typeface="Inter"/>
            </a:endParaRPr>
          </a:p>
        </p:txBody>
      </p:sp>
      <p:sp>
        <p:nvSpPr>
          <p:cNvPr id="378" name="Google Shape;378;p48"/>
          <p:cNvSpPr/>
          <p:nvPr/>
        </p:nvSpPr>
        <p:spPr>
          <a:xfrm>
            <a:off x="283884" y="2489213"/>
            <a:ext cx="544800" cy="544800"/>
          </a:xfrm>
          <a:prstGeom prst="ellipse">
            <a:avLst/>
          </a:prstGeom>
          <a:solidFill>
            <a:srgbClr val="81BE7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C</a:t>
            </a:r>
            <a:endParaRPr sz="1800">
              <a:solidFill>
                <a:schemeClr val="dk1"/>
              </a:solidFill>
              <a:latin typeface="Inter"/>
              <a:ea typeface="Inter"/>
              <a:cs typeface="Inter"/>
              <a:sym typeface="Inter"/>
            </a:endParaRPr>
          </a:p>
        </p:txBody>
      </p:sp>
      <p:sp>
        <p:nvSpPr>
          <p:cNvPr id="379" name="Google Shape;379;p48"/>
          <p:cNvSpPr/>
          <p:nvPr/>
        </p:nvSpPr>
        <p:spPr>
          <a:xfrm>
            <a:off x="283884" y="3270975"/>
            <a:ext cx="544800" cy="544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D</a:t>
            </a:r>
            <a:endParaRPr sz="1800">
              <a:solidFill>
                <a:schemeClr val="dk1"/>
              </a:solidFill>
              <a:latin typeface="Inter"/>
              <a:ea typeface="Inter"/>
              <a:cs typeface="Inter"/>
              <a:sym typeface="Inter"/>
            </a:endParaRPr>
          </a:p>
        </p:txBody>
      </p:sp>
      <p:sp>
        <p:nvSpPr>
          <p:cNvPr id="380" name="Google Shape;380;p48"/>
          <p:cNvSpPr txBox="1"/>
          <p:nvPr>
            <p:ph type="title"/>
          </p:nvPr>
        </p:nvSpPr>
        <p:spPr>
          <a:xfrm>
            <a:off x="283850" y="285900"/>
            <a:ext cx="4227600" cy="409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800"/>
              <a:t>Table of Contents</a:t>
            </a:r>
            <a:endParaRPr b="1" sz="3800"/>
          </a:p>
        </p:txBody>
      </p:sp>
      <p:sp>
        <p:nvSpPr>
          <p:cNvPr id="381" name="Google Shape;381;p4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48"/>
          <p:cNvSpPr txBox="1"/>
          <p:nvPr>
            <p:ph idx="1" type="subTitle"/>
          </p:nvPr>
        </p:nvSpPr>
        <p:spPr>
          <a:xfrm>
            <a:off x="1125100" y="1597000"/>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300"/>
              <a:t>Background</a:t>
            </a:r>
            <a:endParaRPr b="1" sz="3300"/>
          </a:p>
        </p:txBody>
      </p:sp>
      <p:sp>
        <p:nvSpPr>
          <p:cNvPr id="383" name="Google Shape;383;p48"/>
          <p:cNvSpPr txBox="1"/>
          <p:nvPr>
            <p:ph idx="4" type="subTitle"/>
          </p:nvPr>
        </p:nvSpPr>
        <p:spPr>
          <a:xfrm flipH="1">
            <a:off x="6801950" y="1597000"/>
            <a:ext cx="2055000" cy="7737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b="1" lang="en"/>
              <a:t>Slide 4</a:t>
            </a:r>
            <a:endParaRPr b="1"/>
          </a:p>
        </p:txBody>
      </p:sp>
      <p:sp>
        <p:nvSpPr>
          <p:cNvPr id="384" name="Google Shape;384;p48"/>
          <p:cNvSpPr txBox="1"/>
          <p:nvPr>
            <p:ph idx="5" type="subTitle"/>
          </p:nvPr>
        </p:nvSpPr>
        <p:spPr>
          <a:xfrm>
            <a:off x="1125100" y="807200"/>
            <a:ext cx="64776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300"/>
              <a:t>Key Findings</a:t>
            </a:r>
            <a:endParaRPr b="1" sz="3300"/>
          </a:p>
        </p:txBody>
      </p:sp>
      <p:sp>
        <p:nvSpPr>
          <p:cNvPr id="385" name="Google Shape;385;p48"/>
          <p:cNvSpPr txBox="1"/>
          <p:nvPr>
            <p:ph idx="6" type="subTitle"/>
          </p:nvPr>
        </p:nvSpPr>
        <p:spPr>
          <a:xfrm flipH="1">
            <a:off x="6801950" y="807200"/>
            <a:ext cx="2055000" cy="7737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b="1" lang="en"/>
              <a:t>Slide 3</a:t>
            </a:r>
            <a:endParaRPr b="1"/>
          </a:p>
        </p:txBody>
      </p:sp>
      <p:sp>
        <p:nvSpPr>
          <p:cNvPr id="386" name="Google Shape;386;p48"/>
          <p:cNvSpPr txBox="1"/>
          <p:nvPr>
            <p:ph idx="7" type="subTitle"/>
          </p:nvPr>
        </p:nvSpPr>
        <p:spPr>
          <a:xfrm>
            <a:off x="1125100" y="2374763"/>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300"/>
              <a:t>Approach</a:t>
            </a:r>
            <a:endParaRPr b="1" sz="3300"/>
          </a:p>
        </p:txBody>
      </p:sp>
      <p:sp>
        <p:nvSpPr>
          <p:cNvPr id="387" name="Google Shape;387;p48"/>
          <p:cNvSpPr txBox="1"/>
          <p:nvPr>
            <p:ph idx="8" type="subTitle"/>
          </p:nvPr>
        </p:nvSpPr>
        <p:spPr>
          <a:xfrm flipH="1">
            <a:off x="6801950" y="2374763"/>
            <a:ext cx="2055000" cy="7737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b="1" lang="en"/>
              <a:t>Slide 5</a:t>
            </a:r>
            <a:endParaRPr b="1"/>
          </a:p>
        </p:txBody>
      </p:sp>
      <p:sp>
        <p:nvSpPr>
          <p:cNvPr id="388" name="Google Shape;388;p48"/>
          <p:cNvSpPr txBox="1"/>
          <p:nvPr>
            <p:ph idx="9" type="subTitle"/>
          </p:nvPr>
        </p:nvSpPr>
        <p:spPr>
          <a:xfrm>
            <a:off x="1125100" y="3154513"/>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t>Results</a:t>
            </a:r>
            <a:endParaRPr b="1"/>
          </a:p>
        </p:txBody>
      </p:sp>
      <p:sp>
        <p:nvSpPr>
          <p:cNvPr id="389" name="Google Shape;389;p48"/>
          <p:cNvSpPr txBox="1"/>
          <p:nvPr>
            <p:ph idx="13" type="subTitle"/>
          </p:nvPr>
        </p:nvSpPr>
        <p:spPr>
          <a:xfrm flipH="1">
            <a:off x="6801950" y="3154513"/>
            <a:ext cx="2055000" cy="7737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b="1" lang="en"/>
              <a:t>Slides 6-7</a:t>
            </a:r>
            <a:endParaRPr b="1"/>
          </a:p>
        </p:txBody>
      </p:sp>
      <p:cxnSp>
        <p:nvCxnSpPr>
          <p:cNvPr id="390" name="Google Shape;390;p48"/>
          <p:cNvCxnSpPr/>
          <p:nvPr/>
        </p:nvCxnSpPr>
        <p:spPr>
          <a:xfrm>
            <a:off x="283850" y="4682671"/>
            <a:ext cx="8573100" cy="0"/>
          </a:xfrm>
          <a:prstGeom prst="straightConnector1">
            <a:avLst/>
          </a:prstGeom>
          <a:noFill/>
          <a:ln cap="flat" cmpd="sng" w="9525">
            <a:solidFill>
              <a:schemeClr val="dk1"/>
            </a:solidFill>
            <a:prstDash val="solid"/>
            <a:round/>
            <a:headEnd len="med" w="med" type="none"/>
            <a:tailEnd len="med" w="med" type="none"/>
          </a:ln>
        </p:spPr>
      </p:cxnSp>
      <p:sp>
        <p:nvSpPr>
          <p:cNvPr id="391" name="Google Shape;391;p48"/>
          <p:cNvSpPr txBox="1"/>
          <p:nvPr>
            <p:ph idx="2"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392" name="Google Shape;392;p48"/>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393" name="Google Shape;393;p48"/>
          <p:cNvSpPr txBox="1"/>
          <p:nvPr>
            <p:ph idx="2"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cxnSp>
        <p:nvCxnSpPr>
          <p:cNvPr id="394" name="Google Shape;394;p48"/>
          <p:cNvCxnSpPr/>
          <p:nvPr/>
        </p:nvCxnSpPr>
        <p:spPr>
          <a:xfrm>
            <a:off x="285450" y="3911087"/>
            <a:ext cx="8573100" cy="0"/>
          </a:xfrm>
          <a:prstGeom prst="straightConnector1">
            <a:avLst/>
          </a:prstGeom>
          <a:noFill/>
          <a:ln cap="flat" cmpd="sng" w="9525">
            <a:solidFill>
              <a:schemeClr val="dk1"/>
            </a:solidFill>
            <a:prstDash val="solid"/>
            <a:round/>
            <a:headEnd len="med" w="med" type="none"/>
            <a:tailEnd len="med" w="med" type="none"/>
          </a:ln>
        </p:spPr>
      </p:cxnSp>
      <p:sp>
        <p:nvSpPr>
          <p:cNvPr id="395" name="Google Shape;395;p48"/>
          <p:cNvSpPr/>
          <p:nvPr/>
        </p:nvSpPr>
        <p:spPr>
          <a:xfrm>
            <a:off x="285484" y="4029563"/>
            <a:ext cx="544800" cy="544800"/>
          </a:xfrm>
          <a:prstGeom prst="ellipse">
            <a:avLst/>
          </a:prstGeom>
          <a:solidFill>
            <a:srgbClr val="F3BB44"/>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chemeClr val="lt1"/>
                </a:solidFill>
                <a:latin typeface="Inter"/>
                <a:ea typeface="Inter"/>
                <a:cs typeface="Inter"/>
                <a:sym typeface="Inter"/>
              </a:rPr>
              <a:t>E</a:t>
            </a:r>
            <a:endParaRPr sz="1800">
              <a:solidFill>
                <a:schemeClr val="lt1"/>
              </a:solidFill>
              <a:latin typeface="Inter"/>
              <a:ea typeface="Inter"/>
              <a:cs typeface="Inter"/>
              <a:sym typeface="Inter"/>
            </a:endParaRPr>
          </a:p>
        </p:txBody>
      </p:sp>
      <p:sp>
        <p:nvSpPr>
          <p:cNvPr id="396" name="Google Shape;396;p48"/>
          <p:cNvSpPr txBox="1"/>
          <p:nvPr>
            <p:ph idx="9" type="subTitle"/>
          </p:nvPr>
        </p:nvSpPr>
        <p:spPr>
          <a:xfrm>
            <a:off x="1126700" y="3913100"/>
            <a:ext cx="5559300" cy="77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t>Discussion</a:t>
            </a:r>
            <a:endParaRPr b="1"/>
          </a:p>
        </p:txBody>
      </p:sp>
      <p:sp>
        <p:nvSpPr>
          <p:cNvPr id="397" name="Google Shape;397;p48"/>
          <p:cNvSpPr txBox="1"/>
          <p:nvPr>
            <p:ph idx="13" type="subTitle"/>
          </p:nvPr>
        </p:nvSpPr>
        <p:spPr>
          <a:xfrm flipH="1">
            <a:off x="6803550" y="3913100"/>
            <a:ext cx="2055000" cy="7737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b="1" lang="en"/>
              <a:t>Slide 8</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49"/>
          <p:cNvSpPr txBox="1"/>
          <p:nvPr/>
        </p:nvSpPr>
        <p:spPr>
          <a:xfrm>
            <a:off x="284850" y="286800"/>
            <a:ext cx="4227300" cy="115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3600">
                <a:solidFill>
                  <a:schemeClr val="dk1"/>
                </a:solidFill>
                <a:latin typeface="Inter"/>
                <a:ea typeface="Inter"/>
                <a:cs typeface="Inter"/>
                <a:sym typeface="Inter"/>
              </a:rPr>
              <a:t>Key Findings</a:t>
            </a:r>
            <a:r>
              <a:rPr b="1" lang="en" sz="3600">
                <a:solidFill>
                  <a:schemeClr val="dk1"/>
                </a:solidFill>
                <a:latin typeface="Inter"/>
                <a:ea typeface="Inter"/>
                <a:cs typeface="Inter"/>
                <a:sym typeface="Inter"/>
              </a:rPr>
              <a:t>:</a:t>
            </a:r>
            <a:endParaRPr b="1"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rPr b="1" lang="en" sz="3500">
                <a:solidFill>
                  <a:schemeClr val="accent1"/>
                </a:solidFill>
                <a:latin typeface="Inter"/>
                <a:ea typeface="Inter"/>
                <a:cs typeface="Inter"/>
                <a:sym typeface="Inter"/>
              </a:rPr>
              <a:t>Gentrification Risk</a:t>
            </a:r>
            <a:endParaRPr b="1" sz="3500">
              <a:solidFill>
                <a:schemeClr val="accent1"/>
              </a:solidFill>
              <a:latin typeface="Inter"/>
              <a:ea typeface="Inter"/>
              <a:cs typeface="Inter"/>
              <a:sym typeface="Inter"/>
            </a:endParaRPr>
          </a:p>
        </p:txBody>
      </p:sp>
      <p:sp>
        <p:nvSpPr>
          <p:cNvPr id="404" name="Google Shape;404;p49"/>
          <p:cNvSpPr txBox="1"/>
          <p:nvPr/>
        </p:nvSpPr>
        <p:spPr>
          <a:xfrm>
            <a:off x="2034063" y="1573263"/>
            <a:ext cx="2478000" cy="29778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0"/>
              </a:spcBef>
              <a:spcAft>
                <a:spcPts val="0"/>
              </a:spcAft>
              <a:buNone/>
            </a:pPr>
            <a:r>
              <a:rPr lang="en" sz="900">
                <a:solidFill>
                  <a:schemeClr val="dk1"/>
                </a:solidFill>
                <a:latin typeface="Inter Light"/>
                <a:ea typeface="Inter Light"/>
                <a:cs typeface="Inter Light"/>
                <a:sym typeface="Inter Light"/>
              </a:rPr>
              <a:t>Gentrification risk increases steadily as distance to the nearest station decreases across the sample. </a:t>
            </a:r>
            <a:endParaRPr sz="900">
              <a:solidFill>
                <a:schemeClr val="dk1"/>
              </a:solidFill>
              <a:latin typeface="Inter Light"/>
              <a:ea typeface="Inter Light"/>
              <a:cs typeface="Inter Light"/>
              <a:sym typeface="Inter Light"/>
            </a:endParaRPr>
          </a:p>
          <a:p>
            <a:pPr indent="0" lvl="0" marL="0" rtl="0" algn="l">
              <a:lnSpc>
                <a:spcPct val="115000"/>
              </a:lnSpc>
              <a:spcBef>
                <a:spcPts val="1200"/>
              </a:spcBef>
              <a:spcAft>
                <a:spcPts val="0"/>
              </a:spcAft>
              <a:buNone/>
            </a:pPr>
            <a:r>
              <a:rPr lang="en" sz="900">
                <a:solidFill>
                  <a:schemeClr val="dk1"/>
                </a:solidFill>
                <a:latin typeface="Inter Light"/>
                <a:ea typeface="Inter Light"/>
                <a:cs typeface="Inter Light"/>
                <a:sym typeface="Inter Light"/>
              </a:rPr>
              <a:t>Risk levels differ sharply from one Metro line to the next as well (Kruskal-Wallis p &lt; 0.001), which is why the forecast trains on the corridors most like the D Line rather than the full network.</a:t>
            </a:r>
            <a:endParaRPr sz="900">
              <a:solidFill>
                <a:schemeClr val="dk1"/>
              </a:solidFill>
              <a:latin typeface="Inter Light"/>
              <a:ea typeface="Inter Light"/>
              <a:cs typeface="Inter Light"/>
              <a:sym typeface="Inter Light"/>
            </a:endParaRPr>
          </a:p>
          <a:p>
            <a:pPr indent="0" lvl="0" marL="0" rtl="0" algn="l">
              <a:lnSpc>
                <a:spcPct val="115000"/>
              </a:lnSpc>
              <a:spcBef>
                <a:spcPts val="1200"/>
              </a:spcBef>
              <a:spcAft>
                <a:spcPts val="0"/>
              </a:spcAft>
              <a:buNone/>
            </a:pPr>
            <a:r>
              <a:rPr lang="en" sz="900">
                <a:solidFill>
                  <a:schemeClr val="dk1"/>
                </a:solidFill>
                <a:latin typeface="Inter Light"/>
                <a:ea typeface="Inter Light"/>
                <a:cs typeface="Inter Light"/>
                <a:sym typeface="Inter Light"/>
              </a:rPr>
              <a:t>Our analysis predicts little to no added pressure in the Westwood and UCLA corridor, since rents there have already topped out, with little room left to climb. Pressure shifts to still-affordable areas like Koreatown, Palms, and Mar Vista, which carry the highest composite gentrification risk along the line.</a:t>
            </a:r>
            <a:endParaRPr sz="900">
              <a:solidFill>
                <a:schemeClr val="dk1"/>
              </a:solidFill>
              <a:latin typeface="Inter Light"/>
              <a:ea typeface="Inter Light"/>
              <a:cs typeface="Inter Light"/>
              <a:sym typeface="Inter Light"/>
            </a:endParaRPr>
          </a:p>
        </p:txBody>
      </p:sp>
      <p:pic>
        <p:nvPicPr>
          <p:cNvPr descr="A modern metro station. " id="405" name="Google Shape;405;p49"/>
          <p:cNvPicPr preferRelativeResize="0"/>
          <p:nvPr/>
        </p:nvPicPr>
        <p:blipFill rotWithShape="1">
          <a:blip r:embed="rId3">
            <a:alphaModFix/>
          </a:blip>
          <a:srcRect b="6269" l="0" r="6358" t="9915"/>
          <a:stretch/>
        </p:blipFill>
        <p:spPr>
          <a:xfrm>
            <a:off x="4629750" y="0"/>
            <a:ext cx="4227300" cy="4679224"/>
          </a:xfrm>
          <a:prstGeom prst="rect">
            <a:avLst/>
          </a:prstGeom>
          <a:noFill/>
          <a:ln>
            <a:noFill/>
          </a:ln>
        </p:spPr>
      </p:pic>
      <p:sp>
        <p:nvSpPr>
          <p:cNvPr id="406" name="Google Shape;406;p49"/>
          <p:cNvSpPr/>
          <p:nvPr/>
        </p:nvSpPr>
        <p:spPr>
          <a:xfrm>
            <a:off x="5055205" y="653667"/>
            <a:ext cx="3376391" cy="3376391"/>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pic>
        <p:nvPicPr>
          <p:cNvPr descr="Young man looking at directional signs in metro station." id="407" name="Google Shape;407;p49"/>
          <p:cNvPicPr preferRelativeResize="0"/>
          <p:nvPr/>
        </p:nvPicPr>
        <p:blipFill rotWithShape="1">
          <a:blip r:embed="rId4">
            <a:alphaModFix/>
          </a:blip>
          <a:srcRect b="7105" l="0" r="6358" t="33335"/>
          <a:stretch/>
        </p:blipFill>
        <p:spPr>
          <a:xfrm>
            <a:off x="4629750" y="1307325"/>
            <a:ext cx="4227300" cy="3325148"/>
          </a:xfrm>
          <a:prstGeom prst="rect">
            <a:avLst/>
          </a:prstGeom>
          <a:noFill/>
          <a:ln>
            <a:noFill/>
          </a:ln>
        </p:spPr>
      </p:pic>
      <p:sp>
        <p:nvSpPr>
          <p:cNvPr id="408" name="Google Shape;408;p49"/>
          <p:cNvSpPr txBox="1"/>
          <p:nvPr/>
        </p:nvSpPr>
        <p:spPr>
          <a:xfrm>
            <a:off x="850311" y="1573263"/>
            <a:ext cx="9996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accent1"/>
                </a:solidFill>
                <a:latin typeface="Inter"/>
                <a:ea typeface="Inter"/>
                <a:cs typeface="Inter"/>
                <a:sym typeface="Inter"/>
              </a:rPr>
              <a:t>Gentrification is negatively related to Metro proximity</a:t>
            </a:r>
            <a:endParaRPr b="1" sz="1000">
              <a:solidFill>
                <a:schemeClr val="accent1"/>
              </a:solidFill>
              <a:latin typeface="Inter"/>
              <a:ea typeface="Inter"/>
              <a:cs typeface="Inter"/>
              <a:sym typeface="Inter"/>
            </a:endParaRPr>
          </a:p>
        </p:txBody>
      </p:sp>
      <p:sp>
        <p:nvSpPr>
          <p:cNvPr id="409" name="Google Shape;409;p49"/>
          <p:cNvSpPr/>
          <p:nvPr/>
        </p:nvSpPr>
        <p:spPr>
          <a:xfrm>
            <a:off x="284938" y="157327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0</a:t>
            </a:r>
            <a:r>
              <a:rPr lang="en" sz="1200">
                <a:solidFill>
                  <a:schemeClr val="lt1"/>
                </a:solidFill>
                <a:latin typeface="Inter"/>
                <a:ea typeface="Inter"/>
                <a:cs typeface="Inter"/>
                <a:sym typeface="Inter"/>
              </a:rPr>
              <a:t>1</a:t>
            </a:r>
            <a:endParaRPr sz="1200">
              <a:solidFill>
                <a:schemeClr val="lt1"/>
              </a:solidFill>
              <a:latin typeface="Inter"/>
              <a:ea typeface="Inter"/>
              <a:cs typeface="Inter"/>
              <a:sym typeface="Inter"/>
            </a:endParaRPr>
          </a:p>
        </p:txBody>
      </p:sp>
      <p:cxnSp>
        <p:nvCxnSpPr>
          <p:cNvPr id="410" name="Google Shape;410;p49"/>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411" name="Google Shape;411;p49"/>
          <p:cNvSpPr txBox="1"/>
          <p:nvPr>
            <p:ph idx="3"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412" name="Google Shape;412;p49"/>
          <p:cNvSpPr txBox="1"/>
          <p:nvPr>
            <p:ph idx="4"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413" name="Google Shape;413;p49"/>
          <p:cNvSpPr txBox="1"/>
          <p:nvPr>
            <p:ph idx="3"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sp>
        <p:nvSpPr>
          <p:cNvPr id="414" name="Google Shape;414;p49"/>
          <p:cNvSpPr txBox="1"/>
          <p:nvPr/>
        </p:nvSpPr>
        <p:spPr>
          <a:xfrm>
            <a:off x="850311" y="2366053"/>
            <a:ext cx="9996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accent1"/>
                </a:solidFill>
                <a:latin typeface="Inter"/>
                <a:ea typeface="Inter"/>
                <a:cs typeface="Inter"/>
                <a:sym typeface="Inter"/>
              </a:rPr>
              <a:t>Risk levels differ by Metro Line</a:t>
            </a:r>
            <a:endParaRPr b="1" sz="1000">
              <a:solidFill>
                <a:schemeClr val="accent1"/>
              </a:solidFill>
              <a:latin typeface="Inter"/>
              <a:ea typeface="Inter"/>
              <a:cs typeface="Inter"/>
              <a:sym typeface="Inter"/>
            </a:endParaRPr>
          </a:p>
        </p:txBody>
      </p:sp>
      <p:sp>
        <p:nvSpPr>
          <p:cNvPr id="415" name="Google Shape;415;p49"/>
          <p:cNvSpPr/>
          <p:nvPr/>
        </p:nvSpPr>
        <p:spPr>
          <a:xfrm>
            <a:off x="284938" y="236606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02</a:t>
            </a:r>
            <a:endParaRPr sz="1200">
              <a:solidFill>
                <a:schemeClr val="lt1"/>
              </a:solidFill>
              <a:latin typeface="Inter"/>
              <a:ea typeface="Inter"/>
              <a:cs typeface="Inter"/>
              <a:sym typeface="Inter"/>
            </a:endParaRPr>
          </a:p>
        </p:txBody>
      </p:sp>
      <p:sp>
        <p:nvSpPr>
          <p:cNvPr id="416" name="Google Shape;416;p49"/>
          <p:cNvSpPr txBox="1"/>
          <p:nvPr/>
        </p:nvSpPr>
        <p:spPr>
          <a:xfrm>
            <a:off x="850311" y="3158843"/>
            <a:ext cx="9996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accent1"/>
                </a:solidFill>
                <a:latin typeface="Inter"/>
                <a:ea typeface="Inter"/>
                <a:cs typeface="Inter"/>
                <a:sym typeface="Inter"/>
              </a:rPr>
              <a:t>Pressure shifts to Koreatown, Palms, and Mar Vista</a:t>
            </a:r>
            <a:endParaRPr b="1" sz="1000">
              <a:solidFill>
                <a:schemeClr val="accent1"/>
              </a:solidFill>
              <a:latin typeface="Inter"/>
              <a:ea typeface="Inter"/>
              <a:cs typeface="Inter"/>
              <a:sym typeface="Inter"/>
            </a:endParaRPr>
          </a:p>
        </p:txBody>
      </p:sp>
      <p:sp>
        <p:nvSpPr>
          <p:cNvPr id="417" name="Google Shape;417;p49"/>
          <p:cNvSpPr/>
          <p:nvPr/>
        </p:nvSpPr>
        <p:spPr>
          <a:xfrm>
            <a:off x="284938" y="315885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03</a:t>
            </a:r>
            <a:endParaRPr sz="1200">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cxnSp>
        <p:nvCxnSpPr>
          <p:cNvPr id="422" name="Google Shape;422;p50"/>
          <p:cNvCxnSpPr/>
          <p:nvPr/>
        </p:nvCxnSpPr>
        <p:spPr>
          <a:xfrm>
            <a:off x="14600" y="737400"/>
            <a:ext cx="9111600" cy="19500"/>
          </a:xfrm>
          <a:prstGeom prst="straightConnector1">
            <a:avLst/>
          </a:prstGeom>
          <a:noFill/>
          <a:ln cap="flat" cmpd="sng" w="228600">
            <a:solidFill>
              <a:schemeClr val="accent1"/>
            </a:solidFill>
            <a:prstDash val="solid"/>
            <a:round/>
            <a:headEnd len="med" w="med" type="none"/>
            <a:tailEnd len="med" w="med" type="none"/>
          </a:ln>
        </p:spPr>
      </p:cxnSp>
      <p:sp>
        <p:nvSpPr>
          <p:cNvPr id="423" name="Google Shape;423;p5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50"/>
          <p:cNvSpPr txBox="1"/>
          <p:nvPr>
            <p:ph type="title"/>
          </p:nvPr>
        </p:nvSpPr>
        <p:spPr>
          <a:xfrm>
            <a:off x="283850" y="285900"/>
            <a:ext cx="5674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Background</a:t>
            </a:r>
            <a:endParaRPr b="1"/>
          </a:p>
        </p:txBody>
      </p:sp>
      <p:sp>
        <p:nvSpPr>
          <p:cNvPr id="425" name="Google Shape;425;p50"/>
          <p:cNvSpPr txBox="1"/>
          <p:nvPr>
            <p:ph idx="1" type="body"/>
          </p:nvPr>
        </p:nvSpPr>
        <p:spPr>
          <a:xfrm>
            <a:off x="2457450" y="2935180"/>
            <a:ext cx="2055000" cy="1143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latin typeface="Arial"/>
                <a:ea typeface="Arial"/>
                <a:cs typeface="Arial"/>
                <a:sym typeface="Arial"/>
              </a:rPr>
              <a:t>Los Angeles is extending its metro rail with the D Line, and transit proximity is routinely marketed as a neighborhood amenity.</a:t>
            </a:r>
            <a:endParaRPr b="1"/>
          </a:p>
        </p:txBody>
      </p:sp>
      <p:sp>
        <p:nvSpPr>
          <p:cNvPr id="426" name="Google Shape;426;p50"/>
          <p:cNvSpPr txBox="1"/>
          <p:nvPr>
            <p:ph idx="4" type="body"/>
          </p:nvPr>
        </p:nvSpPr>
        <p:spPr>
          <a:xfrm>
            <a:off x="4629750" y="2935180"/>
            <a:ext cx="2055000" cy="1206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100">
                <a:latin typeface="Arial"/>
                <a:ea typeface="Arial"/>
                <a:cs typeface="Arial"/>
                <a:sym typeface="Arial"/>
              </a:rPr>
              <a:t>That same amenity has coincided with rising rents and displacement along earlier rail expansions across LA, and the same trend has been documented in other cities as well.</a:t>
            </a:r>
            <a:endParaRPr b="1"/>
          </a:p>
        </p:txBody>
      </p:sp>
      <p:sp>
        <p:nvSpPr>
          <p:cNvPr id="427" name="Google Shape;427;p50"/>
          <p:cNvSpPr txBox="1"/>
          <p:nvPr>
            <p:ph idx="5" type="body"/>
          </p:nvPr>
        </p:nvSpPr>
        <p:spPr>
          <a:xfrm>
            <a:off x="6802050" y="2935180"/>
            <a:ext cx="2054700" cy="728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latin typeface="Arial"/>
                <a:ea typeface="Arial"/>
                <a:cs typeface="Arial"/>
                <a:sym typeface="Arial"/>
              </a:rPr>
              <a:t>With 63% of Angelenos renting, a shift in housing costs reaches most of the population, not a narrow slice of it. The question this analysis takes up is where, along the new corridor, that pressure is most likely to land.</a:t>
            </a:r>
            <a:endParaRPr b="1"/>
          </a:p>
          <a:p>
            <a:pPr indent="0" lvl="0" marL="0" rtl="0" algn="l">
              <a:spcBef>
                <a:spcPts val="0"/>
              </a:spcBef>
              <a:spcAft>
                <a:spcPts val="0"/>
              </a:spcAft>
              <a:buNone/>
            </a:pPr>
            <a:r>
              <a:t/>
            </a:r>
            <a:endParaRPr b="1"/>
          </a:p>
        </p:txBody>
      </p:sp>
      <p:sp>
        <p:nvSpPr>
          <p:cNvPr id="428" name="Google Shape;428;p50"/>
          <p:cNvSpPr/>
          <p:nvPr/>
        </p:nvSpPr>
        <p:spPr>
          <a:xfrm>
            <a:off x="2456701" y="2319030"/>
            <a:ext cx="493800" cy="493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01</a:t>
            </a:r>
            <a:endParaRPr>
              <a:solidFill>
                <a:schemeClr val="dk1"/>
              </a:solidFill>
              <a:latin typeface="Inter"/>
              <a:ea typeface="Inter"/>
              <a:cs typeface="Inter"/>
              <a:sym typeface="Inter"/>
            </a:endParaRPr>
          </a:p>
        </p:txBody>
      </p:sp>
      <p:sp>
        <p:nvSpPr>
          <p:cNvPr id="429" name="Google Shape;429;p50"/>
          <p:cNvSpPr/>
          <p:nvPr/>
        </p:nvSpPr>
        <p:spPr>
          <a:xfrm>
            <a:off x="4655042" y="2319041"/>
            <a:ext cx="493800" cy="493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02</a:t>
            </a:r>
            <a:endParaRPr>
              <a:solidFill>
                <a:schemeClr val="dk1"/>
              </a:solidFill>
              <a:latin typeface="Inter"/>
              <a:ea typeface="Inter"/>
              <a:cs typeface="Inter"/>
              <a:sym typeface="Inter"/>
            </a:endParaRPr>
          </a:p>
        </p:txBody>
      </p:sp>
      <p:sp>
        <p:nvSpPr>
          <p:cNvPr id="430" name="Google Shape;430;p50"/>
          <p:cNvSpPr/>
          <p:nvPr/>
        </p:nvSpPr>
        <p:spPr>
          <a:xfrm>
            <a:off x="6801409" y="2319030"/>
            <a:ext cx="493800" cy="493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03</a:t>
            </a:r>
            <a:endParaRPr>
              <a:solidFill>
                <a:schemeClr val="dk1"/>
              </a:solidFill>
              <a:latin typeface="Inter"/>
              <a:ea typeface="Inter"/>
              <a:cs typeface="Inter"/>
              <a:sym typeface="Inter"/>
            </a:endParaRPr>
          </a:p>
        </p:txBody>
      </p:sp>
      <p:cxnSp>
        <p:nvCxnSpPr>
          <p:cNvPr id="431" name="Google Shape;431;p50"/>
          <p:cNvCxnSpPr/>
          <p:nvPr/>
        </p:nvCxnSpPr>
        <p:spPr>
          <a:xfrm>
            <a:off x="283850" y="19656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2" name="Google Shape;432;p50"/>
          <p:cNvCxnSpPr/>
          <p:nvPr/>
        </p:nvCxnSpPr>
        <p:spPr>
          <a:xfrm>
            <a:off x="283850" y="4683725"/>
            <a:ext cx="8573100" cy="0"/>
          </a:xfrm>
          <a:prstGeom prst="straightConnector1">
            <a:avLst/>
          </a:prstGeom>
          <a:noFill/>
          <a:ln cap="flat" cmpd="sng" w="9525">
            <a:solidFill>
              <a:schemeClr val="lt1"/>
            </a:solidFill>
            <a:prstDash val="solid"/>
            <a:round/>
            <a:headEnd len="med" w="med" type="none"/>
            <a:tailEnd len="med" w="med" type="none"/>
          </a:ln>
        </p:spPr>
      </p:cxnSp>
      <p:sp>
        <p:nvSpPr>
          <p:cNvPr id="433" name="Google Shape;433;p50"/>
          <p:cNvSpPr txBox="1"/>
          <p:nvPr>
            <p:ph idx="2"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434" name="Google Shape;434;p50"/>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435" name="Google Shape;435;p50"/>
          <p:cNvSpPr txBox="1"/>
          <p:nvPr>
            <p:ph idx="2"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pic>
        <p:nvPicPr>
          <p:cNvPr id="436" name="Google Shape;436;p50"/>
          <p:cNvPicPr preferRelativeResize="0"/>
          <p:nvPr/>
        </p:nvPicPr>
        <p:blipFill rotWithShape="1">
          <a:blip r:embed="rId3">
            <a:alphaModFix/>
          </a:blip>
          <a:srcRect b="15226" l="0" r="57815" t="0"/>
          <a:stretch/>
        </p:blipFill>
        <p:spPr>
          <a:xfrm>
            <a:off x="231775" y="2319030"/>
            <a:ext cx="2054700" cy="1768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51"/>
          <p:cNvSpPr txBox="1"/>
          <p:nvPr/>
        </p:nvSpPr>
        <p:spPr>
          <a:xfrm>
            <a:off x="171901" y="294700"/>
            <a:ext cx="2323800" cy="1377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t/>
            </a:r>
            <a:endParaRPr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rPr b="1" lang="en" sz="3600">
                <a:solidFill>
                  <a:schemeClr val="dk1"/>
                </a:solidFill>
                <a:latin typeface="Inter"/>
                <a:ea typeface="Inter"/>
                <a:cs typeface="Inter"/>
                <a:sym typeface="Inter"/>
              </a:rPr>
              <a:t>Approach</a:t>
            </a:r>
            <a:r>
              <a:rPr lang="en" sz="3600">
                <a:solidFill>
                  <a:schemeClr val="dk1"/>
                </a:solidFill>
                <a:latin typeface="Inter"/>
                <a:ea typeface="Inter"/>
                <a:cs typeface="Inter"/>
                <a:sym typeface="Inter"/>
              </a:rPr>
              <a:t> </a:t>
            </a:r>
            <a:endParaRPr sz="3600">
              <a:solidFill>
                <a:schemeClr val="dk1"/>
              </a:solidFill>
              <a:latin typeface="Inter"/>
              <a:ea typeface="Inter"/>
              <a:cs typeface="Inter"/>
              <a:sym typeface="Inter"/>
            </a:endParaRPr>
          </a:p>
        </p:txBody>
      </p:sp>
      <p:sp>
        <p:nvSpPr>
          <p:cNvPr id="443" name="Google Shape;443;p51"/>
          <p:cNvSpPr/>
          <p:nvPr/>
        </p:nvSpPr>
        <p:spPr>
          <a:xfrm>
            <a:off x="171888" y="317363"/>
            <a:ext cx="345900" cy="3459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A</a:t>
            </a:r>
            <a:endParaRPr>
              <a:solidFill>
                <a:schemeClr val="dk1"/>
              </a:solidFill>
              <a:latin typeface="Inter"/>
              <a:ea typeface="Inter"/>
              <a:cs typeface="Inter"/>
              <a:sym typeface="Inter"/>
            </a:endParaRPr>
          </a:p>
        </p:txBody>
      </p:sp>
      <p:sp>
        <p:nvSpPr>
          <p:cNvPr id="444" name="Google Shape;444;p51"/>
          <p:cNvSpPr/>
          <p:nvPr/>
        </p:nvSpPr>
        <p:spPr>
          <a:xfrm>
            <a:off x="559131" y="317363"/>
            <a:ext cx="345900" cy="345900"/>
          </a:xfrm>
          <a:prstGeom prst="ellipse">
            <a:avLst/>
          </a:prstGeom>
          <a:solidFill>
            <a:srgbClr val="D4373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B</a:t>
            </a:r>
            <a:endParaRPr>
              <a:solidFill>
                <a:schemeClr val="dk1"/>
              </a:solidFill>
              <a:latin typeface="Inter"/>
              <a:ea typeface="Inter"/>
              <a:cs typeface="Inter"/>
              <a:sym typeface="Inter"/>
            </a:endParaRPr>
          </a:p>
        </p:txBody>
      </p:sp>
      <p:sp>
        <p:nvSpPr>
          <p:cNvPr id="445" name="Google Shape;445;p51"/>
          <p:cNvSpPr/>
          <p:nvPr/>
        </p:nvSpPr>
        <p:spPr>
          <a:xfrm>
            <a:off x="946374" y="317363"/>
            <a:ext cx="345900" cy="345900"/>
          </a:xfrm>
          <a:prstGeom prst="ellipse">
            <a:avLst/>
          </a:prstGeom>
          <a:solidFill>
            <a:srgbClr val="81BE7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C</a:t>
            </a:r>
            <a:endParaRPr>
              <a:solidFill>
                <a:schemeClr val="dk1"/>
              </a:solidFill>
              <a:latin typeface="Inter"/>
              <a:ea typeface="Inter"/>
              <a:cs typeface="Inter"/>
              <a:sym typeface="Inter"/>
            </a:endParaRPr>
          </a:p>
        </p:txBody>
      </p:sp>
      <p:sp>
        <p:nvSpPr>
          <p:cNvPr id="446" name="Google Shape;446;p51"/>
          <p:cNvSpPr/>
          <p:nvPr/>
        </p:nvSpPr>
        <p:spPr>
          <a:xfrm>
            <a:off x="1333617" y="317363"/>
            <a:ext cx="345900" cy="3459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D</a:t>
            </a:r>
            <a:endParaRPr>
              <a:solidFill>
                <a:schemeClr val="dk1"/>
              </a:solidFill>
              <a:latin typeface="Inter"/>
              <a:ea typeface="Inter"/>
              <a:cs typeface="Inter"/>
              <a:sym typeface="Inter"/>
            </a:endParaRPr>
          </a:p>
        </p:txBody>
      </p:sp>
      <p:sp>
        <p:nvSpPr>
          <p:cNvPr id="447" name="Google Shape;447;p51"/>
          <p:cNvSpPr/>
          <p:nvPr/>
        </p:nvSpPr>
        <p:spPr>
          <a:xfrm>
            <a:off x="1720867" y="302288"/>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latin typeface="Inter"/>
                <a:ea typeface="Inter"/>
                <a:cs typeface="Inter"/>
                <a:sym typeface="Inter"/>
              </a:rPr>
              <a:t>E</a:t>
            </a:r>
            <a:endParaRPr>
              <a:solidFill>
                <a:schemeClr val="lt1"/>
              </a:solidFill>
              <a:latin typeface="Inter"/>
              <a:ea typeface="Inter"/>
              <a:cs typeface="Inter"/>
              <a:sym typeface="Inter"/>
            </a:endParaRPr>
          </a:p>
        </p:txBody>
      </p:sp>
      <p:sp>
        <p:nvSpPr>
          <p:cNvPr id="448" name="Google Shape;448;p51"/>
          <p:cNvSpPr/>
          <p:nvPr/>
        </p:nvSpPr>
        <p:spPr>
          <a:xfrm>
            <a:off x="2108117" y="302288"/>
            <a:ext cx="345900" cy="345900"/>
          </a:xfrm>
          <a:prstGeom prst="ellipse">
            <a:avLst/>
          </a:prstGeom>
          <a:solidFill>
            <a:srgbClr val="D576A9"/>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latin typeface="Inter"/>
                <a:ea typeface="Inter"/>
                <a:cs typeface="Inter"/>
                <a:sym typeface="Inter"/>
              </a:rPr>
              <a:t>K</a:t>
            </a:r>
            <a:endParaRPr>
              <a:solidFill>
                <a:schemeClr val="lt1"/>
              </a:solidFill>
              <a:latin typeface="Inter"/>
              <a:ea typeface="Inter"/>
              <a:cs typeface="Inter"/>
              <a:sym typeface="Inter"/>
            </a:endParaRPr>
          </a:p>
        </p:txBody>
      </p:sp>
      <p:sp>
        <p:nvSpPr>
          <p:cNvPr id="449" name="Google Shape;449;p51"/>
          <p:cNvSpPr txBox="1"/>
          <p:nvPr>
            <p:ph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450" name="Google Shape;450;p51"/>
          <p:cNvSpPr txBox="1"/>
          <p:nvPr>
            <p:ph idx="2"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451" name="Google Shape;451;p51"/>
          <p:cNvSpPr txBox="1"/>
          <p:nvPr>
            <p:ph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sp>
        <p:nvSpPr>
          <p:cNvPr id="452" name="Google Shape;452;p51"/>
          <p:cNvSpPr txBox="1"/>
          <p:nvPr/>
        </p:nvSpPr>
        <p:spPr>
          <a:xfrm>
            <a:off x="284850" y="1827350"/>
            <a:ext cx="1936200" cy="3459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1800">
                <a:solidFill>
                  <a:schemeClr val="dk1"/>
                </a:solidFill>
                <a:latin typeface="Inter"/>
                <a:ea typeface="Inter"/>
                <a:cs typeface="Inter"/>
                <a:sym typeface="Inter"/>
              </a:rPr>
              <a:t>Outcome</a:t>
            </a:r>
            <a:endParaRPr b="1" sz="1800">
              <a:solidFill>
                <a:schemeClr val="dk1"/>
              </a:solidFill>
              <a:latin typeface="Inter"/>
              <a:ea typeface="Inter"/>
              <a:cs typeface="Inter"/>
              <a:sym typeface="Inter"/>
            </a:endParaRPr>
          </a:p>
        </p:txBody>
      </p:sp>
      <p:sp>
        <p:nvSpPr>
          <p:cNvPr id="453" name="Google Shape;453;p51"/>
          <p:cNvSpPr txBox="1"/>
          <p:nvPr/>
        </p:nvSpPr>
        <p:spPr>
          <a:xfrm>
            <a:off x="2456704" y="1787704"/>
            <a:ext cx="6464400" cy="29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dk1"/>
                </a:solidFill>
                <a:latin typeface="Inter"/>
                <a:ea typeface="Inter"/>
                <a:cs typeface="Inter"/>
                <a:sym typeface="Inter"/>
              </a:rPr>
              <a:t>Five-fold cross-validated model performance</a:t>
            </a:r>
            <a:endParaRPr b="1" sz="1800">
              <a:solidFill>
                <a:schemeClr val="dk1"/>
              </a:solidFill>
              <a:latin typeface="Inter"/>
              <a:ea typeface="Inter"/>
              <a:cs typeface="Inter"/>
              <a:sym typeface="Inter"/>
            </a:endParaRPr>
          </a:p>
        </p:txBody>
      </p:sp>
      <p:sp>
        <p:nvSpPr>
          <p:cNvPr id="454" name="Google Shape;454;p51"/>
          <p:cNvSpPr txBox="1"/>
          <p:nvPr/>
        </p:nvSpPr>
        <p:spPr>
          <a:xfrm>
            <a:off x="171900" y="2250200"/>
            <a:ext cx="2056200" cy="2290500"/>
          </a:xfrm>
          <a:prstGeom prst="rect">
            <a:avLst/>
          </a:prstGeom>
          <a:noFill/>
          <a:ln>
            <a:noFill/>
          </a:ln>
        </p:spPr>
        <p:txBody>
          <a:bodyPr anchorCtr="0" anchor="t" bIns="0" lIns="0" spcFirstLastPara="1" rIns="182875" wrap="square" tIns="0">
            <a:noAutofit/>
          </a:bodyPr>
          <a:lstStyle/>
          <a:p>
            <a:pPr indent="-285750" lvl="0" marL="457200" rtl="0" algn="l">
              <a:spcBef>
                <a:spcPts val="0"/>
              </a:spcBef>
              <a:spcAft>
                <a:spcPts val="0"/>
              </a:spcAft>
              <a:buClr>
                <a:schemeClr val="dk1"/>
              </a:buClr>
              <a:buSzPts val="900"/>
              <a:buFont typeface="Inter Light"/>
              <a:buChar char="❏"/>
            </a:pPr>
            <a:r>
              <a:rPr lang="en" sz="900">
                <a:solidFill>
                  <a:schemeClr val="dk1"/>
                </a:solidFill>
                <a:latin typeface="Inter Light"/>
                <a:ea typeface="Inter Light"/>
                <a:cs typeface="Inter Light"/>
                <a:sym typeface="Inter Light"/>
              </a:rPr>
              <a:t>We computed a Composite Gentrification Risk Score (CGRS) that captures:</a:t>
            </a:r>
            <a:endParaRPr sz="900">
              <a:solidFill>
                <a:schemeClr val="dk1"/>
              </a:solidFill>
              <a:latin typeface="Inter Light"/>
              <a:ea typeface="Inter Light"/>
              <a:cs typeface="Inter Light"/>
              <a:sym typeface="Inter Light"/>
            </a:endParaRPr>
          </a:p>
          <a:p>
            <a:pPr indent="-285750" lvl="1" marL="914400" rtl="0" algn="l">
              <a:spcBef>
                <a:spcPts val="0"/>
              </a:spcBef>
              <a:spcAft>
                <a:spcPts val="0"/>
              </a:spcAft>
              <a:buClr>
                <a:schemeClr val="dk1"/>
              </a:buClr>
              <a:buSzPts val="900"/>
              <a:buFont typeface="Inter"/>
              <a:buChar char="❏"/>
            </a:pPr>
            <a:r>
              <a:rPr b="1" lang="en" sz="900">
                <a:solidFill>
                  <a:schemeClr val="dk1"/>
                </a:solidFill>
                <a:highlight>
                  <a:schemeClr val="lt1"/>
                </a:highlight>
                <a:latin typeface="Inter"/>
                <a:ea typeface="Inter"/>
                <a:cs typeface="Inter"/>
                <a:sym typeface="Inter"/>
              </a:rPr>
              <a:t>rent premium, </a:t>
            </a:r>
            <a:endParaRPr b="1" sz="900">
              <a:solidFill>
                <a:schemeClr val="dk1"/>
              </a:solidFill>
              <a:highlight>
                <a:schemeClr val="lt1"/>
              </a:highlight>
              <a:latin typeface="Inter"/>
              <a:ea typeface="Inter"/>
              <a:cs typeface="Inter"/>
              <a:sym typeface="Inter"/>
            </a:endParaRPr>
          </a:p>
          <a:p>
            <a:pPr indent="-285750" lvl="1" marL="914400" rtl="0" algn="l">
              <a:spcBef>
                <a:spcPts val="0"/>
              </a:spcBef>
              <a:spcAft>
                <a:spcPts val="0"/>
              </a:spcAft>
              <a:buClr>
                <a:schemeClr val="dk1"/>
              </a:buClr>
              <a:buSzPts val="900"/>
              <a:buFont typeface="Inter"/>
              <a:buChar char="❏"/>
            </a:pPr>
            <a:r>
              <a:rPr b="1" lang="en" sz="900">
                <a:solidFill>
                  <a:schemeClr val="dk1"/>
                </a:solidFill>
                <a:highlight>
                  <a:schemeClr val="lt1"/>
                </a:highlight>
                <a:latin typeface="Inter"/>
                <a:ea typeface="Inter"/>
                <a:cs typeface="Inter"/>
                <a:sym typeface="Inter"/>
              </a:rPr>
              <a:t>rent burden, </a:t>
            </a:r>
            <a:endParaRPr b="1" sz="900">
              <a:solidFill>
                <a:schemeClr val="dk1"/>
              </a:solidFill>
              <a:highlight>
                <a:schemeClr val="lt1"/>
              </a:highlight>
              <a:latin typeface="Inter"/>
              <a:ea typeface="Inter"/>
              <a:cs typeface="Inter"/>
              <a:sym typeface="Inter"/>
            </a:endParaRPr>
          </a:p>
          <a:p>
            <a:pPr indent="-285750" lvl="1" marL="914400" rtl="0" algn="l">
              <a:spcBef>
                <a:spcPts val="0"/>
              </a:spcBef>
              <a:spcAft>
                <a:spcPts val="0"/>
              </a:spcAft>
              <a:buClr>
                <a:schemeClr val="dk1"/>
              </a:buClr>
              <a:buSzPts val="900"/>
              <a:buFont typeface="Inter"/>
              <a:buChar char="❏"/>
            </a:pPr>
            <a:r>
              <a:rPr b="1" lang="en" sz="900">
                <a:solidFill>
                  <a:schemeClr val="dk1"/>
                </a:solidFill>
                <a:highlight>
                  <a:schemeClr val="lt1"/>
                </a:highlight>
                <a:latin typeface="Inter"/>
                <a:ea typeface="Inter"/>
                <a:cs typeface="Inter"/>
                <a:sym typeface="Inter"/>
              </a:rPr>
              <a:t>spatial rent appreciation, </a:t>
            </a:r>
            <a:endParaRPr b="1" sz="900">
              <a:solidFill>
                <a:schemeClr val="dk1"/>
              </a:solidFill>
              <a:highlight>
                <a:schemeClr val="lt1"/>
              </a:highlight>
              <a:latin typeface="Inter"/>
              <a:ea typeface="Inter"/>
              <a:cs typeface="Inter"/>
              <a:sym typeface="Inter"/>
            </a:endParaRPr>
          </a:p>
          <a:p>
            <a:pPr indent="-285750" lvl="1" marL="914400" rtl="0" algn="l">
              <a:spcBef>
                <a:spcPts val="0"/>
              </a:spcBef>
              <a:spcAft>
                <a:spcPts val="0"/>
              </a:spcAft>
              <a:buClr>
                <a:schemeClr val="dk1"/>
              </a:buClr>
              <a:buSzPts val="900"/>
              <a:buFont typeface="Inter"/>
              <a:buChar char="❏"/>
            </a:pPr>
            <a:r>
              <a:rPr b="1" lang="en" sz="900">
                <a:solidFill>
                  <a:schemeClr val="dk1"/>
                </a:solidFill>
                <a:highlight>
                  <a:schemeClr val="lt1"/>
                </a:highlight>
                <a:latin typeface="Inter"/>
                <a:ea typeface="Inter"/>
                <a:cs typeface="Inter"/>
                <a:sym typeface="Inter"/>
              </a:rPr>
              <a:t>price per square foot premium,</a:t>
            </a:r>
            <a:endParaRPr b="1" sz="900">
              <a:solidFill>
                <a:schemeClr val="dk1"/>
              </a:solidFill>
              <a:highlight>
                <a:schemeClr val="lt1"/>
              </a:highlight>
              <a:latin typeface="Inter"/>
              <a:ea typeface="Inter"/>
              <a:cs typeface="Inter"/>
              <a:sym typeface="Inter"/>
            </a:endParaRPr>
          </a:p>
          <a:p>
            <a:pPr indent="-285750" lvl="1" marL="914400" rtl="0" algn="l">
              <a:spcBef>
                <a:spcPts val="0"/>
              </a:spcBef>
              <a:spcAft>
                <a:spcPts val="0"/>
              </a:spcAft>
              <a:buClr>
                <a:schemeClr val="dk1"/>
              </a:buClr>
              <a:buSzPts val="900"/>
              <a:buFont typeface="Inter"/>
              <a:buChar char="❏"/>
            </a:pPr>
            <a:r>
              <a:rPr b="1" lang="en" sz="900">
                <a:solidFill>
                  <a:schemeClr val="dk1"/>
                </a:solidFill>
                <a:highlight>
                  <a:schemeClr val="lt1"/>
                </a:highlight>
                <a:latin typeface="Inter"/>
                <a:ea typeface="Inter"/>
                <a:cs typeface="Inter"/>
                <a:sym typeface="Inter"/>
              </a:rPr>
              <a:t>&amp; education change. </a:t>
            </a:r>
            <a:endParaRPr b="1" sz="900">
              <a:solidFill>
                <a:schemeClr val="dk1"/>
              </a:solidFill>
              <a:latin typeface="Inter"/>
              <a:ea typeface="Inter"/>
              <a:cs typeface="Inter"/>
              <a:sym typeface="Inter"/>
            </a:endParaRPr>
          </a:p>
          <a:p>
            <a:pPr indent="-285750" lvl="0" marL="457200" rtl="0" algn="l">
              <a:spcBef>
                <a:spcPts val="0"/>
              </a:spcBef>
              <a:spcAft>
                <a:spcPts val="0"/>
              </a:spcAft>
              <a:buClr>
                <a:schemeClr val="dk1"/>
              </a:buClr>
              <a:buSzPts val="900"/>
              <a:buFont typeface="Inter Light"/>
              <a:buChar char="❏"/>
            </a:pPr>
            <a:r>
              <a:rPr lang="en" sz="900">
                <a:solidFill>
                  <a:schemeClr val="dk1"/>
                </a:solidFill>
                <a:latin typeface="Inter Light"/>
                <a:ea typeface="Inter Light"/>
                <a:cs typeface="Inter Light"/>
                <a:sym typeface="Inter Light"/>
              </a:rPr>
              <a:t>Each component is z-scored and averaged with equal weight, so the final CGRS places every listing on a common scale</a:t>
            </a:r>
            <a:endParaRPr sz="900">
              <a:solidFill>
                <a:schemeClr val="dk1"/>
              </a:solidFill>
              <a:latin typeface="Inter Light"/>
              <a:ea typeface="Inter Light"/>
              <a:cs typeface="Inter Light"/>
              <a:sym typeface="Inter Light"/>
            </a:endParaRPr>
          </a:p>
        </p:txBody>
      </p:sp>
      <p:cxnSp>
        <p:nvCxnSpPr>
          <p:cNvPr id="455" name="Google Shape;455;p51"/>
          <p:cNvCxnSpPr/>
          <p:nvPr/>
        </p:nvCxnSpPr>
        <p:spPr>
          <a:xfrm>
            <a:off x="284850" y="2173250"/>
            <a:ext cx="2056200" cy="0"/>
          </a:xfrm>
          <a:prstGeom prst="straightConnector1">
            <a:avLst/>
          </a:prstGeom>
          <a:noFill/>
          <a:ln cap="flat" cmpd="sng" w="9525">
            <a:solidFill>
              <a:schemeClr val="dk1"/>
            </a:solidFill>
            <a:prstDash val="solid"/>
            <a:round/>
            <a:headEnd len="med" w="med" type="none"/>
            <a:tailEnd len="med" w="med" type="none"/>
          </a:ln>
        </p:spPr>
      </p:cxnSp>
      <p:cxnSp>
        <p:nvCxnSpPr>
          <p:cNvPr id="456" name="Google Shape;456;p51"/>
          <p:cNvCxnSpPr/>
          <p:nvPr/>
        </p:nvCxnSpPr>
        <p:spPr>
          <a:xfrm>
            <a:off x="284850" y="4683725"/>
            <a:ext cx="2056200" cy="0"/>
          </a:xfrm>
          <a:prstGeom prst="straightConnector1">
            <a:avLst/>
          </a:prstGeom>
          <a:noFill/>
          <a:ln cap="flat" cmpd="sng" w="9525">
            <a:solidFill>
              <a:schemeClr val="dk1"/>
            </a:solidFill>
            <a:prstDash val="solid"/>
            <a:round/>
            <a:headEnd len="med" w="med" type="none"/>
            <a:tailEnd len="med" w="med" type="none"/>
          </a:ln>
        </p:spPr>
      </p:cxnSp>
      <p:sp>
        <p:nvSpPr>
          <p:cNvPr id="457" name="Google Shape;457;p51"/>
          <p:cNvSpPr txBox="1"/>
          <p:nvPr/>
        </p:nvSpPr>
        <p:spPr>
          <a:xfrm>
            <a:off x="3944027" y="2457015"/>
            <a:ext cx="1479900" cy="3459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sz="1000">
                <a:solidFill>
                  <a:schemeClr val="dk1"/>
                </a:solidFill>
                <a:latin typeface="Inter"/>
                <a:ea typeface="Inter"/>
                <a:cs typeface="Inter"/>
                <a:sym typeface="Inter"/>
              </a:rPr>
              <a:t>CV-RMSE </a:t>
            </a:r>
            <a:endParaRPr sz="1000">
              <a:solidFill>
                <a:schemeClr val="dk1"/>
              </a:solidFill>
              <a:latin typeface="Inter"/>
              <a:ea typeface="Inter"/>
              <a:cs typeface="Inter"/>
              <a:sym typeface="Inter"/>
            </a:endParaRPr>
          </a:p>
          <a:p>
            <a:pPr indent="0" lvl="0" marL="0" rtl="0" algn="ctr">
              <a:spcBef>
                <a:spcPts val="0"/>
              </a:spcBef>
              <a:spcAft>
                <a:spcPts val="0"/>
              </a:spcAft>
              <a:buNone/>
            </a:pPr>
            <a:r>
              <a:t/>
            </a:r>
            <a:endParaRPr sz="1000">
              <a:solidFill>
                <a:schemeClr val="dk1"/>
              </a:solidFill>
              <a:latin typeface="Inter"/>
              <a:ea typeface="Inter"/>
              <a:cs typeface="Inter"/>
              <a:sym typeface="Inter"/>
            </a:endParaRPr>
          </a:p>
        </p:txBody>
      </p:sp>
      <p:sp>
        <p:nvSpPr>
          <p:cNvPr descr="A chart showing which team members are responsible, accountable, consulted, and informed in regard to various project phases and tasks. " id="458" name="Google Shape;458;p51"/>
          <p:cNvSpPr txBox="1"/>
          <p:nvPr/>
        </p:nvSpPr>
        <p:spPr>
          <a:xfrm>
            <a:off x="2460263" y="2893120"/>
            <a:ext cx="12822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dk1"/>
                </a:solidFill>
                <a:latin typeface="Inter"/>
                <a:ea typeface="Inter"/>
                <a:cs typeface="Inter"/>
                <a:sym typeface="Inter"/>
              </a:rPr>
              <a:t>OLS/Ridge</a:t>
            </a:r>
            <a:endParaRPr sz="1000">
              <a:solidFill>
                <a:schemeClr val="dk1"/>
              </a:solidFill>
              <a:latin typeface="Inter"/>
              <a:ea typeface="Inter"/>
              <a:cs typeface="Inter"/>
              <a:sym typeface="Inter"/>
            </a:endParaRPr>
          </a:p>
        </p:txBody>
      </p:sp>
      <p:cxnSp>
        <p:nvCxnSpPr>
          <p:cNvPr id="459" name="Google Shape;459;p51"/>
          <p:cNvCxnSpPr/>
          <p:nvPr/>
        </p:nvCxnSpPr>
        <p:spPr>
          <a:xfrm>
            <a:off x="2456700" y="2802920"/>
            <a:ext cx="6400200" cy="0"/>
          </a:xfrm>
          <a:prstGeom prst="straightConnector1">
            <a:avLst/>
          </a:prstGeom>
          <a:noFill/>
          <a:ln cap="flat" cmpd="sng" w="9525">
            <a:solidFill>
              <a:schemeClr val="dk1"/>
            </a:solidFill>
            <a:prstDash val="solid"/>
            <a:round/>
            <a:headEnd len="med" w="med" type="none"/>
            <a:tailEnd len="med" w="med" type="none"/>
          </a:ln>
        </p:spPr>
      </p:cxnSp>
      <p:cxnSp>
        <p:nvCxnSpPr>
          <p:cNvPr id="460" name="Google Shape;460;p51"/>
          <p:cNvCxnSpPr/>
          <p:nvPr/>
        </p:nvCxnSpPr>
        <p:spPr>
          <a:xfrm>
            <a:off x="2456700" y="2173250"/>
            <a:ext cx="6400200" cy="0"/>
          </a:xfrm>
          <a:prstGeom prst="straightConnector1">
            <a:avLst/>
          </a:prstGeom>
          <a:noFill/>
          <a:ln cap="flat" cmpd="sng" w="9525">
            <a:solidFill>
              <a:schemeClr val="dk1"/>
            </a:solidFill>
            <a:prstDash val="solid"/>
            <a:round/>
            <a:headEnd len="med" w="med" type="none"/>
            <a:tailEnd len="med" w="med" type="none"/>
          </a:ln>
        </p:spPr>
      </p:cxnSp>
      <p:cxnSp>
        <p:nvCxnSpPr>
          <p:cNvPr id="461" name="Google Shape;461;p51"/>
          <p:cNvCxnSpPr/>
          <p:nvPr/>
        </p:nvCxnSpPr>
        <p:spPr>
          <a:xfrm>
            <a:off x="2456700" y="4683725"/>
            <a:ext cx="6400200" cy="0"/>
          </a:xfrm>
          <a:prstGeom prst="straightConnector1">
            <a:avLst/>
          </a:prstGeom>
          <a:noFill/>
          <a:ln cap="flat" cmpd="sng" w="9525">
            <a:solidFill>
              <a:schemeClr val="dk1"/>
            </a:solidFill>
            <a:prstDash val="solid"/>
            <a:round/>
            <a:headEnd len="med" w="med" type="none"/>
            <a:tailEnd len="med" w="med" type="none"/>
          </a:ln>
        </p:spPr>
      </p:cxnSp>
      <p:cxnSp>
        <p:nvCxnSpPr>
          <p:cNvPr id="462" name="Google Shape;462;p51"/>
          <p:cNvCxnSpPr/>
          <p:nvPr/>
        </p:nvCxnSpPr>
        <p:spPr>
          <a:xfrm>
            <a:off x="2456700" y="3305015"/>
            <a:ext cx="6400200" cy="0"/>
          </a:xfrm>
          <a:prstGeom prst="straightConnector1">
            <a:avLst/>
          </a:prstGeom>
          <a:noFill/>
          <a:ln cap="flat" cmpd="sng" w="9525">
            <a:solidFill>
              <a:schemeClr val="dk1"/>
            </a:solidFill>
            <a:prstDash val="solid"/>
            <a:round/>
            <a:headEnd len="med" w="med" type="none"/>
            <a:tailEnd len="med" w="med" type="none"/>
          </a:ln>
        </p:spPr>
      </p:cxnSp>
      <p:cxnSp>
        <p:nvCxnSpPr>
          <p:cNvPr id="463" name="Google Shape;463;p51"/>
          <p:cNvCxnSpPr/>
          <p:nvPr/>
        </p:nvCxnSpPr>
        <p:spPr>
          <a:xfrm>
            <a:off x="2456700" y="3807110"/>
            <a:ext cx="6400200" cy="0"/>
          </a:xfrm>
          <a:prstGeom prst="straightConnector1">
            <a:avLst/>
          </a:prstGeom>
          <a:noFill/>
          <a:ln cap="flat" cmpd="sng" w="9525">
            <a:solidFill>
              <a:schemeClr val="dk1"/>
            </a:solidFill>
            <a:prstDash val="solid"/>
            <a:round/>
            <a:headEnd len="med" w="med" type="none"/>
            <a:tailEnd len="med" w="med" type="none"/>
          </a:ln>
        </p:spPr>
      </p:cxnSp>
      <p:sp>
        <p:nvSpPr>
          <p:cNvPr id="464" name="Google Shape;464;p51"/>
          <p:cNvSpPr txBox="1"/>
          <p:nvPr/>
        </p:nvSpPr>
        <p:spPr>
          <a:xfrm>
            <a:off x="2460263" y="3392695"/>
            <a:ext cx="12822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000">
                <a:solidFill>
                  <a:schemeClr val="dk1"/>
                </a:solidFill>
                <a:latin typeface="Inter"/>
                <a:ea typeface="Inter"/>
                <a:cs typeface="Inter"/>
                <a:sym typeface="Inter"/>
              </a:rPr>
              <a:t>Random Forest</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465" name="Google Shape;465;p51"/>
          <p:cNvSpPr txBox="1"/>
          <p:nvPr/>
        </p:nvSpPr>
        <p:spPr>
          <a:xfrm>
            <a:off x="2460275" y="3895600"/>
            <a:ext cx="1732500" cy="33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dk1"/>
                </a:solidFill>
                <a:latin typeface="Inter"/>
                <a:ea typeface="Inter"/>
                <a:cs typeface="Inter"/>
                <a:sym typeface="Inter"/>
              </a:rPr>
              <a:t>Gradient-Boosted Trees </a:t>
            </a:r>
            <a:endParaRPr sz="1000">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rPr lang="en" sz="1000">
                <a:solidFill>
                  <a:schemeClr val="dk1"/>
                </a:solidFill>
                <a:latin typeface="Inter"/>
                <a:ea typeface="Inter"/>
                <a:cs typeface="Inter"/>
                <a:sym typeface="Inter"/>
              </a:rPr>
              <a:t>(best performer)</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sp>
        <p:nvSpPr>
          <p:cNvPr id="466" name="Google Shape;466;p51"/>
          <p:cNvSpPr txBox="1"/>
          <p:nvPr/>
        </p:nvSpPr>
        <p:spPr>
          <a:xfrm>
            <a:off x="7574650" y="2457015"/>
            <a:ext cx="1282200" cy="34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Applicable Lines</a:t>
            </a:r>
            <a:endParaRPr sz="800">
              <a:solidFill>
                <a:schemeClr val="dk1"/>
              </a:solidFill>
              <a:latin typeface="Inter"/>
              <a:ea typeface="Inter"/>
              <a:cs typeface="Inter"/>
              <a:sym typeface="Inter"/>
            </a:endParaRPr>
          </a:p>
        </p:txBody>
      </p:sp>
      <p:sp>
        <p:nvSpPr>
          <p:cNvPr id="467" name="Google Shape;467;p51"/>
          <p:cNvSpPr txBox="1"/>
          <p:nvPr/>
        </p:nvSpPr>
        <p:spPr>
          <a:xfrm>
            <a:off x="6298075" y="2457015"/>
            <a:ext cx="1282200" cy="34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lt1"/>
              </a:buClr>
              <a:buSzPts val="1100"/>
              <a:buNone/>
            </a:pPr>
            <a:r>
              <a:rPr lang="en" sz="1000">
                <a:solidFill>
                  <a:schemeClr val="dk1"/>
                </a:solidFill>
                <a:latin typeface="Inter"/>
                <a:ea typeface="Inter"/>
                <a:cs typeface="Inter"/>
                <a:sym typeface="Inter"/>
              </a:rPr>
              <a:t>CV-R</a:t>
            </a:r>
            <a:r>
              <a:rPr baseline="30000" lang="en" sz="1000">
                <a:solidFill>
                  <a:schemeClr val="dk1"/>
                </a:solidFill>
                <a:latin typeface="Inter"/>
                <a:ea typeface="Inter"/>
                <a:cs typeface="Inter"/>
                <a:sym typeface="Inter"/>
              </a:rPr>
              <a:t>2</a:t>
            </a:r>
            <a:endParaRPr baseline="30000" sz="800">
              <a:solidFill>
                <a:schemeClr val="dk1"/>
              </a:solidFill>
              <a:latin typeface="Inter"/>
              <a:ea typeface="Inter"/>
              <a:cs typeface="Inter"/>
              <a:sym typeface="Inter"/>
            </a:endParaRPr>
          </a:p>
        </p:txBody>
      </p:sp>
      <p:sp>
        <p:nvSpPr>
          <p:cNvPr id="468" name="Google Shape;468;p51"/>
          <p:cNvSpPr txBox="1"/>
          <p:nvPr/>
        </p:nvSpPr>
        <p:spPr>
          <a:xfrm>
            <a:off x="5316838" y="2457015"/>
            <a:ext cx="1282200" cy="34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CV-MAE</a:t>
            </a:r>
            <a:endParaRPr sz="800">
              <a:solidFill>
                <a:schemeClr val="dk1"/>
              </a:solidFill>
              <a:latin typeface="Inter"/>
              <a:ea typeface="Inter"/>
              <a:cs typeface="Inter"/>
              <a:sym typeface="Inter"/>
            </a:endParaRPr>
          </a:p>
        </p:txBody>
      </p:sp>
      <p:grpSp>
        <p:nvGrpSpPr>
          <p:cNvPr id="469" name="Google Shape;469;p51"/>
          <p:cNvGrpSpPr/>
          <p:nvPr/>
        </p:nvGrpSpPr>
        <p:grpSpPr>
          <a:xfrm>
            <a:off x="7844892" y="2881025"/>
            <a:ext cx="736425" cy="345900"/>
            <a:chOff x="7905754" y="2753450"/>
            <a:chExt cx="736425" cy="345900"/>
          </a:xfrm>
        </p:grpSpPr>
        <p:sp>
          <p:nvSpPr>
            <p:cNvPr id="470" name="Google Shape;470;p51"/>
            <p:cNvSpPr/>
            <p:nvPr/>
          </p:nvSpPr>
          <p:spPr>
            <a:xfrm>
              <a:off x="7905754" y="2753450"/>
              <a:ext cx="345900" cy="3459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A</a:t>
              </a:r>
              <a:endParaRPr>
                <a:solidFill>
                  <a:schemeClr val="dk1"/>
                </a:solidFill>
                <a:latin typeface="Inter"/>
                <a:ea typeface="Inter"/>
                <a:cs typeface="Inter"/>
                <a:sym typeface="Inter"/>
              </a:endParaRPr>
            </a:p>
          </p:txBody>
        </p:sp>
        <p:sp>
          <p:nvSpPr>
            <p:cNvPr id="471" name="Google Shape;471;p51"/>
            <p:cNvSpPr/>
            <p:nvPr/>
          </p:nvSpPr>
          <p:spPr>
            <a:xfrm>
              <a:off x="8296279" y="275345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latin typeface="Inter"/>
                  <a:ea typeface="Inter"/>
                  <a:cs typeface="Inter"/>
                  <a:sym typeface="Inter"/>
                </a:rPr>
                <a:t>E</a:t>
              </a:r>
              <a:endParaRPr>
                <a:solidFill>
                  <a:schemeClr val="lt1"/>
                </a:solidFill>
                <a:latin typeface="Inter"/>
                <a:ea typeface="Inter"/>
                <a:cs typeface="Inter"/>
                <a:sym typeface="Inter"/>
              </a:endParaRPr>
            </a:p>
          </p:txBody>
        </p:sp>
      </p:grpSp>
      <p:grpSp>
        <p:nvGrpSpPr>
          <p:cNvPr id="472" name="Google Shape;472;p51"/>
          <p:cNvGrpSpPr/>
          <p:nvPr/>
        </p:nvGrpSpPr>
        <p:grpSpPr>
          <a:xfrm>
            <a:off x="7845729" y="3383117"/>
            <a:ext cx="736425" cy="345900"/>
            <a:chOff x="7905754" y="2753450"/>
            <a:chExt cx="736425" cy="345900"/>
          </a:xfrm>
        </p:grpSpPr>
        <p:sp>
          <p:nvSpPr>
            <p:cNvPr id="473" name="Google Shape;473;p51"/>
            <p:cNvSpPr/>
            <p:nvPr/>
          </p:nvSpPr>
          <p:spPr>
            <a:xfrm>
              <a:off x="7905754" y="2753450"/>
              <a:ext cx="345900" cy="3459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A</a:t>
              </a:r>
              <a:endParaRPr>
                <a:solidFill>
                  <a:schemeClr val="dk1"/>
                </a:solidFill>
                <a:latin typeface="Inter"/>
                <a:ea typeface="Inter"/>
                <a:cs typeface="Inter"/>
                <a:sym typeface="Inter"/>
              </a:endParaRPr>
            </a:p>
          </p:txBody>
        </p:sp>
        <p:sp>
          <p:nvSpPr>
            <p:cNvPr id="474" name="Google Shape;474;p51"/>
            <p:cNvSpPr/>
            <p:nvPr/>
          </p:nvSpPr>
          <p:spPr>
            <a:xfrm>
              <a:off x="8296279" y="275345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latin typeface="Inter"/>
                  <a:ea typeface="Inter"/>
                  <a:cs typeface="Inter"/>
                  <a:sym typeface="Inter"/>
                </a:rPr>
                <a:t>E</a:t>
              </a:r>
              <a:endParaRPr>
                <a:solidFill>
                  <a:schemeClr val="lt1"/>
                </a:solidFill>
                <a:latin typeface="Inter"/>
                <a:ea typeface="Inter"/>
                <a:cs typeface="Inter"/>
                <a:sym typeface="Inter"/>
              </a:endParaRPr>
            </a:p>
          </p:txBody>
        </p:sp>
      </p:grpSp>
      <p:grpSp>
        <p:nvGrpSpPr>
          <p:cNvPr id="475" name="Google Shape;475;p51"/>
          <p:cNvGrpSpPr/>
          <p:nvPr/>
        </p:nvGrpSpPr>
        <p:grpSpPr>
          <a:xfrm>
            <a:off x="7844054" y="3885208"/>
            <a:ext cx="736425" cy="345900"/>
            <a:chOff x="7905754" y="2753450"/>
            <a:chExt cx="736425" cy="345900"/>
          </a:xfrm>
        </p:grpSpPr>
        <p:sp>
          <p:nvSpPr>
            <p:cNvPr id="476" name="Google Shape;476;p51"/>
            <p:cNvSpPr/>
            <p:nvPr/>
          </p:nvSpPr>
          <p:spPr>
            <a:xfrm>
              <a:off x="7905754" y="2753450"/>
              <a:ext cx="345900" cy="345900"/>
            </a:xfrm>
            <a:prstGeom prst="ellipse">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A</a:t>
              </a:r>
              <a:endParaRPr>
                <a:solidFill>
                  <a:schemeClr val="dk1"/>
                </a:solidFill>
                <a:latin typeface="Inter"/>
                <a:ea typeface="Inter"/>
                <a:cs typeface="Inter"/>
                <a:sym typeface="Inter"/>
              </a:endParaRPr>
            </a:p>
          </p:txBody>
        </p:sp>
        <p:sp>
          <p:nvSpPr>
            <p:cNvPr id="477" name="Google Shape;477;p51"/>
            <p:cNvSpPr/>
            <p:nvPr/>
          </p:nvSpPr>
          <p:spPr>
            <a:xfrm>
              <a:off x="8296279" y="275345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latin typeface="Inter"/>
                  <a:ea typeface="Inter"/>
                  <a:cs typeface="Inter"/>
                  <a:sym typeface="Inter"/>
                </a:rPr>
                <a:t>E</a:t>
              </a:r>
              <a:endParaRPr>
                <a:solidFill>
                  <a:schemeClr val="lt1"/>
                </a:solidFill>
                <a:latin typeface="Inter"/>
                <a:ea typeface="Inter"/>
                <a:cs typeface="Inter"/>
                <a:sym typeface="Inter"/>
              </a:endParaRPr>
            </a:p>
          </p:txBody>
        </p:sp>
      </p:grpSp>
      <p:sp>
        <p:nvSpPr>
          <p:cNvPr id="478" name="Google Shape;478;p51"/>
          <p:cNvSpPr txBox="1"/>
          <p:nvPr/>
        </p:nvSpPr>
        <p:spPr>
          <a:xfrm>
            <a:off x="4158513" y="2887175"/>
            <a:ext cx="10509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dk2"/>
                </a:solidFill>
                <a:latin typeface="Inter"/>
                <a:ea typeface="Inter"/>
                <a:cs typeface="Inter"/>
                <a:sym typeface="Inter"/>
              </a:rPr>
              <a:t>0.376</a:t>
            </a:r>
            <a:endParaRPr sz="1000">
              <a:solidFill>
                <a:schemeClr val="dk2"/>
              </a:solidFill>
              <a:latin typeface="Inter"/>
              <a:ea typeface="Inter"/>
              <a:cs typeface="Inter"/>
              <a:sym typeface="Inter"/>
            </a:endParaRPr>
          </a:p>
        </p:txBody>
      </p:sp>
      <p:sp>
        <p:nvSpPr>
          <p:cNvPr id="479" name="Google Shape;479;p51"/>
          <p:cNvSpPr txBox="1"/>
          <p:nvPr/>
        </p:nvSpPr>
        <p:spPr>
          <a:xfrm>
            <a:off x="4158513" y="3386725"/>
            <a:ext cx="10509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dk2"/>
                </a:solidFill>
                <a:latin typeface="Inter"/>
                <a:ea typeface="Inter"/>
                <a:cs typeface="Inter"/>
                <a:sym typeface="Inter"/>
              </a:rPr>
              <a:t>0.201</a:t>
            </a:r>
            <a:endParaRPr sz="1000">
              <a:solidFill>
                <a:schemeClr val="dk2"/>
              </a:solidFill>
              <a:latin typeface="Inter"/>
              <a:ea typeface="Inter"/>
              <a:cs typeface="Inter"/>
              <a:sym typeface="Inter"/>
            </a:endParaRPr>
          </a:p>
        </p:txBody>
      </p:sp>
      <p:sp>
        <p:nvSpPr>
          <p:cNvPr id="480" name="Google Shape;480;p51"/>
          <p:cNvSpPr txBox="1"/>
          <p:nvPr/>
        </p:nvSpPr>
        <p:spPr>
          <a:xfrm>
            <a:off x="4158513" y="3886250"/>
            <a:ext cx="10509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000">
                <a:solidFill>
                  <a:schemeClr val="dk2"/>
                </a:solidFill>
                <a:latin typeface="Inter"/>
                <a:ea typeface="Inter"/>
                <a:cs typeface="Inter"/>
                <a:sym typeface="Inter"/>
              </a:rPr>
              <a:t>0.173</a:t>
            </a:r>
            <a:endParaRPr b="1" sz="1000">
              <a:solidFill>
                <a:schemeClr val="dk2"/>
              </a:solidFill>
              <a:latin typeface="Inter"/>
              <a:ea typeface="Inter"/>
              <a:cs typeface="Inter"/>
              <a:sym typeface="Inter"/>
            </a:endParaRPr>
          </a:p>
        </p:txBody>
      </p:sp>
      <p:sp>
        <p:nvSpPr>
          <p:cNvPr id="481" name="Google Shape;481;p51"/>
          <p:cNvSpPr txBox="1"/>
          <p:nvPr/>
        </p:nvSpPr>
        <p:spPr>
          <a:xfrm>
            <a:off x="5516450" y="2896252"/>
            <a:ext cx="876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dk2"/>
                </a:solidFill>
                <a:latin typeface="Inter"/>
                <a:ea typeface="Inter"/>
                <a:cs typeface="Inter"/>
                <a:sym typeface="Inter"/>
              </a:rPr>
              <a:t>0.286</a:t>
            </a:r>
            <a:endParaRPr sz="1000">
              <a:solidFill>
                <a:schemeClr val="dk2"/>
              </a:solidFill>
              <a:latin typeface="Inter"/>
              <a:ea typeface="Inter"/>
              <a:cs typeface="Inter"/>
              <a:sym typeface="Inter"/>
            </a:endParaRPr>
          </a:p>
        </p:txBody>
      </p:sp>
      <p:sp>
        <p:nvSpPr>
          <p:cNvPr id="482" name="Google Shape;482;p51"/>
          <p:cNvSpPr txBox="1"/>
          <p:nvPr/>
        </p:nvSpPr>
        <p:spPr>
          <a:xfrm>
            <a:off x="5516450" y="3395794"/>
            <a:ext cx="876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dk2"/>
                </a:solidFill>
                <a:latin typeface="Inter"/>
                <a:ea typeface="Inter"/>
                <a:cs typeface="Inter"/>
                <a:sym typeface="Inter"/>
              </a:rPr>
              <a:t>0.144</a:t>
            </a:r>
            <a:endParaRPr sz="1000">
              <a:solidFill>
                <a:schemeClr val="dk2"/>
              </a:solidFill>
              <a:latin typeface="Inter"/>
              <a:ea typeface="Inter"/>
              <a:cs typeface="Inter"/>
              <a:sym typeface="Inter"/>
            </a:endParaRPr>
          </a:p>
        </p:txBody>
      </p:sp>
      <p:sp>
        <p:nvSpPr>
          <p:cNvPr id="483" name="Google Shape;483;p51"/>
          <p:cNvSpPr txBox="1"/>
          <p:nvPr/>
        </p:nvSpPr>
        <p:spPr>
          <a:xfrm>
            <a:off x="5516450" y="3895335"/>
            <a:ext cx="876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000">
                <a:solidFill>
                  <a:schemeClr val="dk2"/>
                </a:solidFill>
                <a:latin typeface="Inter"/>
                <a:ea typeface="Inter"/>
                <a:cs typeface="Inter"/>
                <a:sym typeface="Inter"/>
              </a:rPr>
              <a:t>0.121</a:t>
            </a:r>
            <a:endParaRPr b="1" sz="1000">
              <a:solidFill>
                <a:schemeClr val="dk2"/>
              </a:solidFill>
              <a:latin typeface="Inter"/>
              <a:ea typeface="Inter"/>
              <a:cs typeface="Inter"/>
              <a:sym typeface="Inter"/>
            </a:endParaRPr>
          </a:p>
        </p:txBody>
      </p:sp>
      <p:sp>
        <p:nvSpPr>
          <p:cNvPr id="484" name="Google Shape;484;p51"/>
          <p:cNvSpPr txBox="1"/>
          <p:nvPr/>
        </p:nvSpPr>
        <p:spPr>
          <a:xfrm>
            <a:off x="6532688" y="2896252"/>
            <a:ext cx="876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dk2"/>
                </a:solidFill>
                <a:latin typeface="Inter"/>
                <a:ea typeface="Inter"/>
                <a:cs typeface="Inter"/>
                <a:sym typeface="Inter"/>
              </a:rPr>
              <a:t>0.453</a:t>
            </a:r>
            <a:endParaRPr sz="1000">
              <a:solidFill>
                <a:schemeClr val="dk2"/>
              </a:solidFill>
              <a:latin typeface="Inter"/>
              <a:ea typeface="Inter"/>
              <a:cs typeface="Inter"/>
              <a:sym typeface="Inter"/>
            </a:endParaRPr>
          </a:p>
        </p:txBody>
      </p:sp>
      <p:sp>
        <p:nvSpPr>
          <p:cNvPr id="485" name="Google Shape;485;p51"/>
          <p:cNvSpPr txBox="1"/>
          <p:nvPr/>
        </p:nvSpPr>
        <p:spPr>
          <a:xfrm>
            <a:off x="6532688" y="3395794"/>
            <a:ext cx="876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dk2"/>
                </a:solidFill>
                <a:latin typeface="Inter"/>
                <a:ea typeface="Inter"/>
                <a:cs typeface="Inter"/>
                <a:sym typeface="Inter"/>
              </a:rPr>
              <a:t>0.844</a:t>
            </a:r>
            <a:endParaRPr sz="1000">
              <a:solidFill>
                <a:schemeClr val="dk2"/>
              </a:solidFill>
              <a:latin typeface="Inter"/>
              <a:ea typeface="Inter"/>
              <a:cs typeface="Inter"/>
              <a:sym typeface="Inter"/>
            </a:endParaRPr>
          </a:p>
        </p:txBody>
      </p:sp>
      <p:sp>
        <p:nvSpPr>
          <p:cNvPr id="486" name="Google Shape;486;p51"/>
          <p:cNvSpPr txBox="1"/>
          <p:nvPr/>
        </p:nvSpPr>
        <p:spPr>
          <a:xfrm>
            <a:off x="6532688" y="3895335"/>
            <a:ext cx="876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000">
                <a:solidFill>
                  <a:schemeClr val="dk2"/>
                </a:solidFill>
                <a:latin typeface="Inter"/>
                <a:ea typeface="Inter"/>
                <a:cs typeface="Inter"/>
                <a:sym typeface="Inter"/>
              </a:rPr>
              <a:t>0.885</a:t>
            </a:r>
            <a:endParaRPr b="1" sz="1000">
              <a:solidFill>
                <a:schemeClr val="dk2"/>
              </a:solidFill>
              <a:latin typeface="Inter"/>
              <a:ea typeface="Inter"/>
              <a:cs typeface="Inter"/>
              <a:sym typeface="Inter"/>
            </a:endParaRPr>
          </a:p>
        </p:txBody>
      </p:sp>
      <p:pic>
        <p:nvPicPr>
          <p:cNvPr descr="Subway Train (Provided by Getty Images)" id="487" name="Google Shape;487;p51"/>
          <p:cNvPicPr preferRelativeResize="0"/>
          <p:nvPr/>
        </p:nvPicPr>
        <p:blipFill>
          <a:blip r:embed="rId3">
            <a:alphaModFix/>
          </a:blip>
          <a:stretch>
            <a:fillRect/>
          </a:stretch>
        </p:blipFill>
        <p:spPr>
          <a:xfrm>
            <a:off x="4629751" y="197975"/>
            <a:ext cx="4238551" cy="1316826"/>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2"/>
          <p:cNvSpPr txBox="1"/>
          <p:nvPr>
            <p:ph idx="4"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b="1" lang="en"/>
              <a:t>Results</a:t>
            </a:r>
            <a:r>
              <a:rPr b="1" lang="en"/>
              <a:t>:</a:t>
            </a:r>
            <a:endParaRPr b="1"/>
          </a:p>
          <a:p>
            <a:pPr indent="0" lvl="0" marL="0" rtl="0" algn="l">
              <a:spcBef>
                <a:spcPts val="0"/>
              </a:spcBef>
              <a:spcAft>
                <a:spcPts val="0"/>
              </a:spcAft>
              <a:buNone/>
            </a:pPr>
            <a:r>
              <a:rPr b="1" lang="en">
                <a:solidFill>
                  <a:schemeClr val="accent1"/>
                </a:solidFill>
              </a:rPr>
              <a:t>Graphs</a:t>
            </a:r>
            <a:endParaRPr b="1">
              <a:solidFill>
                <a:schemeClr val="accent1"/>
              </a:solidFill>
            </a:endParaRPr>
          </a:p>
        </p:txBody>
      </p:sp>
      <p:cxnSp>
        <p:nvCxnSpPr>
          <p:cNvPr id="493" name="Google Shape;493;p52"/>
          <p:cNvCxnSpPr/>
          <p:nvPr/>
        </p:nvCxnSpPr>
        <p:spPr>
          <a:xfrm>
            <a:off x="100225" y="4683725"/>
            <a:ext cx="8977800" cy="900"/>
          </a:xfrm>
          <a:prstGeom prst="straightConnector1">
            <a:avLst/>
          </a:prstGeom>
          <a:noFill/>
          <a:ln cap="flat" cmpd="sng" w="9525">
            <a:solidFill>
              <a:schemeClr val="dk1"/>
            </a:solidFill>
            <a:prstDash val="solid"/>
            <a:round/>
            <a:headEnd len="med" w="med" type="none"/>
            <a:tailEnd len="med" w="med" type="none"/>
          </a:ln>
        </p:spPr>
      </p:cxnSp>
      <p:cxnSp>
        <p:nvCxnSpPr>
          <p:cNvPr id="494" name="Google Shape;494;p52"/>
          <p:cNvCxnSpPr/>
          <p:nvPr/>
        </p:nvCxnSpPr>
        <p:spPr>
          <a:xfrm>
            <a:off x="100225" y="1506246"/>
            <a:ext cx="8958300" cy="300"/>
          </a:xfrm>
          <a:prstGeom prst="straightConnector1">
            <a:avLst/>
          </a:prstGeom>
          <a:noFill/>
          <a:ln cap="flat" cmpd="sng" w="9525">
            <a:solidFill>
              <a:schemeClr val="dk1"/>
            </a:solidFill>
            <a:prstDash val="solid"/>
            <a:round/>
            <a:headEnd len="med" w="med" type="none"/>
            <a:tailEnd len="med" w="med" type="none"/>
          </a:ln>
        </p:spPr>
      </p:cxnSp>
      <p:sp>
        <p:nvSpPr>
          <p:cNvPr id="495" name="Google Shape;495;p52"/>
          <p:cNvSpPr txBox="1"/>
          <p:nvPr/>
        </p:nvSpPr>
        <p:spPr>
          <a:xfrm>
            <a:off x="7549950" y="1899675"/>
            <a:ext cx="1328400" cy="6456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0"/>
              </a:spcBef>
              <a:spcAft>
                <a:spcPts val="0"/>
              </a:spcAft>
              <a:buNone/>
            </a:pPr>
            <a:r>
              <a:rPr lang="en" sz="900">
                <a:solidFill>
                  <a:schemeClr val="dk1"/>
                </a:solidFill>
                <a:latin typeface="Inter Light"/>
                <a:ea typeface="Inter Light"/>
                <a:cs typeface="Inter Light"/>
                <a:sym typeface="Inter Light"/>
              </a:rPr>
              <a:t>Figure 1. Rent (left) and CGRS (right), grouped by proximity band, with sample sizes annotated for each band (5-mile cap, balanced bands).</a:t>
            </a:r>
            <a:endParaRPr sz="900">
              <a:solidFill>
                <a:schemeClr val="dk1"/>
              </a:solidFill>
              <a:latin typeface="Inter Light"/>
              <a:ea typeface="Inter Light"/>
              <a:cs typeface="Inter Light"/>
              <a:sym typeface="Inter Light"/>
            </a:endParaRPr>
          </a:p>
        </p:txBody>
      </p:sp>
      <p:sp>
        <p:nvSpPr>
          <p:cNvPr id="496" name="Google Shape;496;p52"/>
          <p:cNvSpPr/>
          <p:nvPr/>
        </p:nvSpPr>
        <p:spPr>
          <a:xfrm>
            <a:off x="7081888" y="1656063"/>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01</a:t>
            </a:r>
            <a:endParaRPr sz="1200">
              <a:solidFill>
                <a:schemeClr val="lt1"/>
              </a:solidFill>
              <a:latin typeface="Inter"/>
              <a:ea typeface="Inter"/>
              <a:cs typeface="Inter"/>
              <a:sym typeface="Inter"/>
            </a:endParaRPr>
          </a:p>
        </p:txBody>
      </p:sp>
      <p:sp>
        <p:nvSpPr>
          <p:cNvPr id="497" name="Google Shape;497;p52"/>
          <p:cNvSpPr txBox="1"/>
          <p:nvPr/>
        </p:nvSpPr>
        <p:spPr>
          <a:xfrm>
            <a:off x="7539800" y="1660550"/>
            <a:ext cx="14895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accent1"/>
                </a:solidFill>
                <a:latin typeface="Inter"/>
                <a:ea typeface="Inter"/>
                <a:cs typeface="Inter"/>
                <a:sym typeface="Inter"/>
              </a:rPr>
              <a:t>Transit Proximity Effects</a:t>
            </a:r>
            <a:endParaRPr sz="1000">
              <a:solidFill>
                <a:schemeClr val="accent1"/>
              </a:solidFill>
              <a:latin typeface="Inter"/>
              <a:ea typeface="Inter"/>
              <a:cs typeface="Inter"/>
              <a:sym typeface="Inter"/>
            </a:endParaRPr>
          </a:p>
        </p:txBody>
      </p:sp>
      <p:sp>
        <p:nvSpPr>
          <p:cNvPr id="498" name="Google Shape;498;p5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99" name="Google Shape;499;p52"/>
          <p:cNvSpPr txBox="1"/>
          <p:nvPr>
            <p:ph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500" name="Google Shape;500;p52"/>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501" name="Google Shape;501;p52"/>
          <p:cNvSpPr txBox="1"/>
          <p:nvPr>
            <p:ph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pic>
        <p:nvPicPr>
          <p:cNvPr id="502" name="Google Shape;502;p52" title="eda_band_boxplots.png"/>
          <p:cNvPicPr preferRelativeResize="0"/>
          <p:nvPr/>
        </p:nvPicPr>
        <p:blipFill rotWithShape="1">
          <a:blip r:embed="rId3">
            <a:alphaModFix/>
          </a:blip>
          <a:srcRect b="0" l="0" r="0" t="0"/>
          <a:stretch/>
        </p:blipFill>
        <p:spPr>
          <a:xfrm>
            <a:off x="100225" y="1656075"/>
            <a:ext cx="6889124" cy="287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3"/>
          <p:cNvSpPr txBox="1"/>
          <p:nvPr>
            <p:ph idx="4"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b="1" lang="en"/>
              <a:t>Results:</a:t>
            </a:r>
            <a:endParaRPr b="1"/>
          </a:p>
          <a:p>
            <a:pPr indent="0" lvl="0" marL="0" rtl="0" algn="l">
              <a:spcBef>
                <a:spcPts val="0"/>
              </a:spcBef>
              <a:spcAft>
                <a:spcPts val="0"/>
              </a:spcAft>
              <a:buClr>
                <a:schemeClr val="lt1"/>
              </a:buClr>
              <a:buSzPts val="1100"/>
              <a:buFont typeface="Arial"/>
              <a:buNone/>
            </a:pPr>
            <a:r>
              <a:rPr b="1" lang="en">
                <a:solidFill>
                  <a:schemeClr val="accent1"/>
                </a:solidFill>
              </a:rPr>
              <a:t>Graphs</a:t>
            </a:r>
            <a:endParaRPr b="1">
              <a:solidFill>
                <a:schemeClr val="accent1"/>
              </a:solidFill>
            </a:endParaRPr>
          </a:p>
        </p:txBody>
      </p:sp>
      <p:cxnSp>
        <p:nvCxnSpPr>
          <p:cNvPr id="508" name="Google Shape;508;p53"/>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cxnSp>
        <p:nvCxnSpPr>
          <p:cNvPr id="509" name="Google Shape;509;p53"/>
          <p:cNvCxnSpPr/>
          <p:nvPr/>
        </p:nvCxnSpPr>
        <p:spPr>
          <a:xfrm>
            <a:off x="289150" y="1437250"/>
            <a:ext cx="8627100" cy="900"/>
          </a:xfrm>
          <a:prstGeom prst="straightConnector1">
            <a:avLst/>
          </a:prstGeom>
          <a:noFill/>
          <a:ln cap="flat" cmpd="sng" w="9525">
            <a:solidFill>
              <a:schemeClr val="dk1"/>
            </a:solidFill>
            <a:prstDash val="solid"/>
            <a:round/>
            <a:headEnd len="med" w="med" type="none"/>
            <a:tailEnd len="med" w="med" type="none"/>
          </a:ln>
        </p:spPr>
      </p:cxnSp>
      <p:grpSp>
        <p:nvGrpSpPr>
          <p:cNvPr id="510" name="Google Shape;510;p53"/>
          <p:cNvGrpSpPr/>
          <p:nvPr/>
        </p:nvGrpSpPr>
        <p:grpSpPr>
          <a:xfrm>
            <a:off x="5957988" y="1555575"/>
            <a:ext cx="2909163" cy="889225"/>
            <a:chOff x="4571988" y="336625"/>
            <a:chExt cx="2909163" cy="889225"/>
          </a:xfrm>
        </p:grpSpPr>
        <p:sp>
          <p:nvSpPr>
            <p:cNvPr id="511" name="Google Shape;511;p53"/>
            <p:cNvSpPr txBox="1"/>
            <p:nvPr/>
          </p:nvSpPr>
          <p:spPr>
            <a:xfrm>
              <a:off x="5040050" y="580250"/>
              <a:ext cx="2441100" cy="6456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0"/>
                </a:spcBef>
                <a:spcAft>
                  <a:spcPts val="0"/>
                </a:spcAft>
                <a:buNone/>
              </a:pPr>
              <a:r>
                <a:rPr lang="en" sz="900">
                  <a:solidFill>
                    <a:schemeClr val="dk1"/>
                  </a:solidFill>
                  <a:latin typeface="Inter Light"/>
                  <a:ea typeface="Inter Light"/>
                  <a:cs typeface="Inter Light"/>
                  <a:sym typeface="Inter Light"/>
                </a:rPr>
                <a:t>Distance-decay of mean CGRS, binned by distance to the nearest Metro station (25 equal-width bins from 0 to the 97th percentile of distance), with the 0.5-mile TOD threshold marked.</a:t>
              </a:r>
              <a:endParaRPr sz="9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t/>
              </a:r>
              <a:endParaRPr sz="900">
                <a:solidFill>
                  <a:schemeClr val="dk1"/>
                </a:solidFill>
                <a:latin typeface="Inter Light"/>
                <a:ea typeface="Inter Light"/>
                <a:cs typeface="Inter Light"/>
                <a:sym typeface="Inter Light"/>
              </a:endParaRPr>
            </a:p>
          </p:txBody>
        </p:sp>
        <p:sp>
          <p:nvSpPr>
            <p:cNvPr id="512" name="Google Shape;512;p53"/>
            <p:cNvSpPr/>
            <p:nvPr/>
          </p:nvSpPr>
          <p:spPr>
            <a:xfrm>
              <a:off x="4571988" y="336625"/>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02</a:t>
              </a:r>
              <a:endParaRPr sz="1200">
                <a:solidFill>
                  <a:schemeClr val="lt1"/>
                </a:solidFill>
                <a:latin typeface="Inter"/>
                <a:ea typeface="Inter"/>
                <a:cs typeface="Inter"/>
                <a:sym typeface="Inter"/>
              </a:endParaRPr>
            </a:p>
          </p:txBody>
        </p:sp>
        <p:sp>
          <p:nvSpPr>
            <p:cNvPr id="513" name="Google Shape;513;p53"/>
            <p:cNvSpPr txBox="1"/>
            <p:nvPr/>
          </p:nvSpPr>
          <p:spPr>
            <a:xfrm>
              <a:off x="5029893" y="341100"/>
              <a:ext cx="19203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accent1"/>
                  </a:solidFill>
                  <a:latin typeface="Inter"/>
                  <a:ea typeface="Inter"/>
                  <a:cs typeface="Inter"/>
                  <a:sym typeface="Inter"/>
                </a:rPr>
                <a:t>Distance-Decay Plot</a:t>
              </a:r>
              <a:endParaRPr sz="1000">
                <a:solidFill>
                  <a:schemeClr val="accent1"/>
                </a:solidFill>
                <a:latin typeface="Inter"/>
                <a:ea typeface="Inter"/>
                <a:cs typeface="Inter"/>
                <a:sym typeface="Inter"/>
              </a:endParaRPr>
            </a:p>
          </p:txBody>
        </p:sp>
      </p:grpSp>
      <p:sp>
        <p:nvSpPr>
          <p:cNvPr id="514" name="Google Shape;514;p5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53"/>
          <p:cNvSpPr txBox="1"/>
          <p:nvPr>
            <p:ph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516" name="Google Shape;516;p53"/>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517" name="Google Shape;517;p53"/>
          <p:cNvSpPr txBox="1"/>
          <p:nvPr>
            <p:ph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pic>
        <p:nvPicPr>
          <p:cNvPr id="518" name="Google Shape;518;p53" title="eda_distance_decay.png"/>
          <p:cNvPicPr preferRelativeResize="0"/>
          <p:nvPr/>
        </p:nvPicPr>
        <p:blipFill>
          <a:blip r:embed="rId3">
            <a:alphaModFix/>
          </a:blip>
          <a:stretch>
            <a:fillRect/>
          </a:stretch>
        </p:blipFill>
        <p:spPr>
          <a:xfrm>
            <a:off x="391475" y="1513188"/>
            <a:ext cx="5188902" cy="3095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cxnSp>
        <p:nvCxnSpPr>
          <p:cNvPr id="523" name="Google Shape;523;p54"/>
          <p:cNvCxnSpPr/>
          <p:nvPr/>
        </p:nvCxnSpPr>
        <p:spPr>
          <a:xfrm>
            <a:off x="16150" y="776400"/>
            <a:ext cx="9111600" cy="19500"/>
          </a:xfrm>
          <a:prstGeom prst="straightConnector1">
            <a:avLst/>
          </a:prstGeom>
          <a:noFill/>
          <a:ln cap="flat" cmpd="sng" w="228600">
            <a:solidFill>
              <a:schemeClr val="accent1"/>
            </a:solidFill>
            <a:prstDash val="solid"/>
            <a:round/>
            <a:headEnd len="med" w="med" type="none"/>
            <a:tailEnd len="med" w="med" type="none"/>
          </a:ln>
        </p:spPr>
      </p:cxnSp>
      <p:cxnSp>
        <p:nvCxnSpPr>
          <p:cNvPr id="524" name="Google Shape;524;p54"/>
          <p:cNvCxnSpPr/>
          <p:nvPr/>
        </p:nvCxnSpPr>
        <p:spPr>
          <a:xfrm rot="10800000">
            <a:off x="-50" y="4754300"/>
            <a:ext cx="9144000" cy="0"/>
          </a:xfrm>
          <a:prstGeom prst="straightConnector1">
            <a:avLst/>
          </a:prstGeom>
          <a:noFill/>
          <a:ln cap="flat" cmpd="sng" w="9525">
            <a:solidFill>
              <a:schemeClr val="dk2"/>
            </a:solidFill>
            <a:prstDash val="solid"/>
            <a:round/>
            <a:headEnd len="med" w="med" type="none"/>
            <a:tailEnd len="med" w="med" type="none"/>
          </a:ln>
        </p:spPr>
      </p:cxnSp>
      <p:sp>
        <p:nvSpPr>
          <p:cNvPr id="525" name="Google Shape;525;p54"/>
          <p:cNvSpPr/>
          <p:nvPr/>
        </p:nvSpPr>
        <p:spPr>
          <a:xfrm>
            <a:off x="284850" y="1555575"/>
            <a:ext cx="1005000" cy="965700"/>
          </a:xfrm>
          <a:prstGeom prst="roundRect">
            <a:avLst>
              <a:gd fmla="val 50000" name="adj"/>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26" name="Google Shape;526;p54"/>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01</a:t>
            </a:r>
            <a:endParaRPr/>
          </a:p>
        </p:txBody>
      </p:sp>
      <p:sp>
        <p:nvSpPr>
          <p:cNvPr id="527" name="Google Shape;527;p54"/>
          <p:cNvSpPr/>
          <p:nvPr/>
        </p:nvSpPr>
        <p:spPr>
          <a:xfrm>
            <a:off x="1736388" y="2636275"/>
            <a:ext cx="1005000" cy="965700"/>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28" name="Google Shape;528;p54"/>
          <p:cNvSpPr/>
          <p:nvPr/>
        </p:nvSpPr>
        <p:spPr>
          <a:xfrm>
            <a:off x="3185700" y="3716975"/>
            <a:ext cx="1005000" cy="965700"/>
          </a:xfrm>
          <a:prstGeom prst="roundRect">
            <a:avLst>
              <a:gd fmla="val 50000" name="adj"/>
            </a:avLst>
          </a:prstGeom>
          <a:solidFill>
            <a:srgbClr val="81BE71"/>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29" name="Google Shape;529;p54"/>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03</a:t>
            </a:r>
            <a:endParaRPr/>
          </a:p>
        </p:txBody>
      </p:sp>
      <p:cxnSp>
        <p:nvCxnSpPr>
          <p:cNvPr id="530" name="Google Shape;530;p54"/>
          <p:cNvCxnSpPr/>
          <p:nvPr/>
        </p:nvCxnSpPr>
        <p:spPr>
          <a:xfrm rot="10800000">
            <a:off x="0" y="1487000"/>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54"/>
          <p:cNvCxnSpPr/>
          <p:nvPr/>
        </p:nvCxnSpPr>
        <p:spPr>
          <a:xfrm rot="10800000">
            <a:off x="-50" y="3658617"/>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54"/>
          <p:cNvCxnSpPr/>
          <p:nvPr/>
        </p:nvCxnSpPr>
        <p:spPr>
          <a:xfrm rot="10800000">
            <a:off x="-50" y="2584442"/>
            <a:ext cx="9144000" cy="0"/>
          </a:xfrm>
          <a:prstGeom prst="straightConnector1">
            <a:avLst/>
          </a:prstGeom>
          <a:noFill/>
          <a:ln cap="flat" cmpd="sng" w="9525">
            <a:solidFill>
              <a:schemeClr val="dk2"/>
            </a:solidFill>
            <a:prstDash val="solid"/>
            <a:round/>
            <a:headEnd len="med" w="med" type="none"/>
            <a:tailEnd len="med" w="med" type="none"/>
          </a:ln>
        </p:spPr>
      </p:cxnSp>
      <p:sp>
        <p:nvSpPr>
          <p:cNvPr id="533" name="Google Shape;533;p5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34" name="Google Shape;534;p54"/>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lt1"/>
              </a:buClr>
              <a:buSzPts val="1100"/>
              <a:buFont typeface="Arial"/>
              <a:buNone/>
            </a:pPr>
            <a:r>
              <a:rPr lang="en">
                <a:latin typeface="Inter Light"/>
                <a:ea typeface="Inter Light"/>
                <a:cs typeface="Inter Light"/>
                <a:sym typeface="Inter Light"/>
              </a:rPr>
              <a:t>It also cannot separate the Metro's influence from the fact that LA's rail already runs through some of the city's most established corridors.</a:t>
            </a:r>
            <a:endParaRPr/>
          </a:p>
        </p:txBody>
      </p:sp>
      <p:sp>
        <p:nvSpPr>
          <p:cNvPr id="535" name="Google Shape;535;p54"/>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a:latin typeface="Inter Light"/>
                <a:ea typeface="Inter Light"/>
                <a:cs typeface="Inter Light"/>
                <a:sym typeface="Inter Light"/>
              </a:rPr>
              <a:t>Proximity may reflect where high-value neighborhoods already sit, or it may be an early signal of pressure that has not yet surfaced.</a:t>
            </a:r>
            <a:endParaRPr/>
          </a:p>
        </p:txBody>
      </p:sp>
      <p:sp>
        <p:nvSpPr>
          <p:cNvPr id="536" name="Google Shape;536;p54"/>
          <p:cNvSpPr txBox="1"/>
          <p:nvPr>
            <p:ph type="title"/>
          </p:nvPr>
        </p:nvSpPr>
        <p:spPr>
          <a:xfrm>
            <a:off x="269100" y="305400"/>
            <a:ext cx="70590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Implications From This Study</a:t>
            </a:r>
            <a:endParaRPr b="1"/>
          </a:p>
        </p:txBody>
      </p:sp>
      <p:sp>
        <p:nvSpPr>
          <p:cNvPr id="537" name="Google Shape;537;p54"/>
          <p:cNvSpPr txBox="1"/>
          <p:nvPr>
            <p:ph idx="6" type="body"/>
          </p:nvPr>
        </p:nvSpPr>
        <p:spPr>
          <a:xfrm>
            <a:off x="1736400" y="1553875"/>
            <a:ext cx="4124400" cy="972000"/>
          </a:xfrm>
          <a:prstGeom prst="rect">
            <a:avLst/>
          </a:prstGeom>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lang="en">
                <a:latin typeface="Inter Light"/>
                <a:ea typeface="Inter Light"/>
                <a:cs typeface="Inter Light"/>
                <a:sym typeface="Inter Light"/>
              </a:rPr>
              <a:t>These findings are not causal. The analysis is cross-sectional, so it captures a single moment and cannot show how risk will shift as transit access expands. </a:t>
            </a:r>
            <a:endParaRPr>
              <a:latin typeface="Inter Light"/>
              <a:ea typeface="Inter Light"/>
              <a:cs typeface="Inter Light"/>
              <a:sym typeface="Inter Light"/>
            </a:endParaRPr>
          </a:p>
        </p:txBody>
      </p:sp>
      <p:sp>
        <p:nvSpPr>
          <p:cNvPr id="538" name="Google Shape;538;p54"/>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02</a:t>
            </a:r>
            <a:endParaRPr/>
          </a:p>
        </p:txBody>
      </p:sp>
      <p:sp>
        <p:nvSpPr>
          <p:cNvPr id="539" name="Google Shape;539;p54"/>
          <p:cNvSpPr txBox="1"/>
          <p:nvPr>
            <p:ph idx="7" type="title"/>
          </p:nvPr>
        </p:nvSpPr>
        <p:spPr>
          <a:xfrm>
            <a:off x="3590650" y="48201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540" name="Google Shape;540;p54"/>
          <p:cNvSpPr txBox="1"/>
          <p:nvPr>
            <p:ph idx="8" type="title"/>
          </p:nvPr>
        </p:nvSpPr>
        <p:spPr>
          <a:xfrm>
            <a:off x="7528450" y="48201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541" name="Google Shape;541;p54"/>
          <p:cNvSpPr txBox="1"/>
          <p:nvPr>
            <p:ph idx="7" type="title"/>
          </p:nvPr>
        </p:nvSpPr>
        <p:spPr>
          <a:xfrm>
            <a:off x="284850" y="48026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4EA0"/>
        </a:solidFill>
      </p:bgPr>
    </p:bg>
    <p:spTree>
      <p:nvGrpSpPr>
        <p:cNvPr id="545" name="Shape 545"/>
        <p:cNvGrpSpPr/>
        <p:nvPr/>
      </p:nvGrpSpPr>
      <p:grpSpPr>
        <a:xfrm>
          <a:off x="0" y="0"/>
          <a:ext cx="0" cy="0"/>
          <a:chOff x="0" y="0"/>
          <a:chExt cx="0" cy="0"/>
        </a:xfrm>
      </p:grpSpPr>
      <p:cxnSp>
        <p:nvCxnSpPr>
          <p:cNvPr id="546" name="Google Shape;546;p55"/>
          <p:cNvCxnSpPr/>
          <p:nvPr/>
        </p:nvCxnSpPr>
        <p:spPr>
          <a:xfrm flipH="1" rot="10800000">
            <a:off x="269750" y="298975"/>
            <a:ext cx="2909400" cy="6300"/>
          </a:xfrm>
          <a:prstGeom prst="straightConnector1">
            <a:avLst/>
          </a:prstGeom>
          <a:noFill/>
          <a:ln cap="flat" cmpd="sng" w="9525">
            <a:solidFill>
              <a:schemeClr val="dk1"/>
            </a:solidFill>
            <a:prstDash val="solid"/>
            <a:round/>
            <a:headEnd len="med" w="med" type="none"/>
            <a:tailEnd len="med" w="med" type="none"/>
          </a:ln>
        </p:spPr>
      </p:cxnSp>
      <p:sp>
        <p:nvSpPr>
          <p:cNvPr id="547" name="Google Shape;547;p55"/>
          <p:cNvSpPr txBox="1"/>
          <p:nvPr>
            <p:ph idx="1" type="subTitle"/>
          </p:nvPr>
        </p:nvSpPr>
        <p:spPr>
          <a:xfrm>
            <a:off x="284850" y="3425000"/>
            <a:ext cx="2054700" cy="98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This presentation looked at the relationship between LA Metro Rail Stop Proximity and Risk of Gentrification.</a:t>
            </a:r>
            <a:endParaRPr sz="1000"/>
          </a:p>
        </p:txBody>
      </p:sp>
      <p:sp>
        <p:nvSpPr>
          <p:cNvPr id="548" name="Google Shape;548;p55"/>
          <p:cNvSpPr txBox="1"/>
          <p:nvPr/>
        </p:nvSpPr>
        <p:spPr>
          <a:xfrm>
            <a:off x="649300" y="1635825"/>
            <a:ext cx="1950300" cy="8043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Any questions?</a:t>
            </a:r>
            <a:endParaRPr sz="18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Ask away!</a:t>
            </a:r>
            <a:endParaRPr sz="1800">
              <a:solidFill>
                <a:schemeClr val="dk1"/>
              </a:solidFill>
              <a:latin typeface="Inter"/>
              <a:ea typeface="Inter"/>
              <a:cs typeface="Inter"/>
              <a:sym typeface="Inter"/>
            </a:endParaRPr>
          </a:p>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cxnSp>
        <p:nvCxnSpPr>
          <p:cNvPr id="549" name="Google Shape;549;p55"/>
          <p:cNvCxnSpPr/>
          <p:nvPr/>
        </p:nvCxnSpPr>
        <p:spPr>
          <a:xfrm flipH="1" rot="10800000">
            <a:off x="283850" y="1112350"/>
            <a:ext cx="2901600" cy="4500"/>
          </a:xfrm>
          <a:prstGeom prst="straightConnector1">
            <a:avLst/>
          </a:prstGeom>
          <a:noFill/>
          <a:ln cap="flat" cmpd="sng" w="9525">
            <a:solidFill>
              <a:schemeClr val="dk1"/>
            </a:solidFill>
            <a:prstDash val="solid"/>
            <a:round/>
            <a:headEnd len="med" w="med" type="none"/>
            <a:tailEnd len="med" w="med" type="none"/>
          </a:ln>
        </p:spPr>
      </p:cxnSp>
      <p:sp>
        <p:nvSpPr>
          <p:cNvPr id="550" name="Google Shape;550;p55"/>
          <p:cNvSpPr txBox="1"/>
          <p:nvPr/>
        </p:nvSpPr>
        <p:spPr>
          <a:xfrm>
            <a:off x="597093" y="456375"/>
            <a:ext cx="2054700" cy="6606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0"/>
              </a:spcBef>
              <a:spcAft>
                <a:spcPts val="0"/>
              </a:spcAft>
              <a:buNone/>
            </a:pPr>
            <a:r>
              <a:rPr b="1" lang="en" sz="6000">
                <a:solidFill>
                  <a:schemeClr val="dk1"/>
                </a:solidFill>
                <a:latin typeface="Inter"/>
                <a:ea typeface="Inter"/>
                <a:cs typeface="Inter"/>
                <a:sym typeface="Inter"/>
              </a:rPr>
              <a:t>Q&amp;A</a:t>
            </a:r>
            <a:endParaRPr b="1" sz="6000">
              <a:solidFill>
                <a:schemeClr val="dk1"/>
              </a:solidFill>
              <a:latin typeface="Inter"/>
              <a:ea typeface="Inter"/>
              <a:cs typeface="Inter"/>
              <a:sym typeface="Inter"/>
            </a:endParaRPr>
          </a:p>
        </p:txBody>
      </p:sp>
      <p:sp>
        <p:nvSpPr>
          <p:cNvPr id="551" name="Google Shape;551;p5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cxnSp>
        <p:nvCxnSpPr>
          <p:cNvPr id="552" name="Google Shape;552;p55"/>
          <p:cNvCxnSpPr/>
          <p:nvPr/>
        </p:nvCxnSpPr>
        <p:spPr>
          <a:xfrm>
            <a:off x="283850" y="3204759"/>
            <a:ext cx="2888700" cy="3300"/>
          </a:xfrm>
          <a:prstGeom prst="straightConnector1">
            <a:avLst/>
          </a:prstGeom>
          <a:noFill/>
          <a:ln cap="flat" cmpd="sng" w="9525">
            <a:solidFill>
              <a:schemeClr val="dk1"/>
            </a:solidFill>
            <a:prstDash val="solid"/>
            <a:round/>
            <a:headEnd len="med" w="med" type="none"/>
            <a:tailEnd len="med" w="med" type="none"/>
          </a:ln>
        </p:spPr>
      </p:cxnSp>
      <p:cxnSp>
        <p:nvCxnSpPr>
          <p:cNvPr id="553" name="Google Shape;553;p55"/>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554" name="Google Shape;554;p55"/>
          <p:cNvSpPr txBox="1"/>
          <p:nvPr>
            <p:ph idx="2"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555" name="Google Shape;555;p55"/>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556" name="Google Shape;556;p55"/>
          <p:cNvSpPr txBox="1"/>
          <p:nvPr>
            <p:ph idx="2"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sp>
        <p:nvSpPr>
          <p:cNvPr id="557" name="Google Shape;557;p55"/>
          <p:cNvSpPr/>
          <p:nvPr/>
        </p:nvSpPr>
        <p:spPr>
          <a:xfrm>
            <a:off x="3506925" y="1220925"/>
            <a:ext cx="5048400" cy="1073700"/>
          </a:xfrm>
          <a:prstGeom prst="rightArrow">
            <a:avLst>
              <a:gd fmla="val 50000" name="adj1"/>
              <a:gd fmla="val 50000" name="adj2"/>
            </a:avLst>
          </a:prstGeom>
          <a:solidFill>
            <a:srgbClr val="8B4EA0"/>
          </a:solidFill>
          <a:ln cap="flat" cmpd="sng" w="9525">
            <a:solidFill>
              <a:srgbClr val="8B4E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8B4EA0"/>
              </a:highlight>
              <a:latin typeface="Inter"/>
              <a:ea typeface="Inter"/>
              <a:cs typeface="Inter"/>
              <a:sym typeface="Inter"/>
            </a:endParaRPr>
          </a:p>
        </p:txBody>
      </p:sp>
      <p:sp>
        <p:nvSpPr>
          <p:cNvPr id="558" name="Google Shape;558;p55"/>
          <p:cNvSpPr/>
          <p:nvPr/>
        </p:nvSpPr>
        <p:spPr>
          <a:xfrm rot="2700000">
            <a:off x="6997363" y="882212"/>
            <a:ext cx="1149756" cy="532876"/>
          </a:xfrm>
          <a:prstGeom prst="rect">
            <a:avLst/>
          </a:prstGeom>
          <a:solidFill>
            <a:srgbClr val="8B4EA0"/>
          </a:solidFill>
          <a:ln cap="flat" cmpd="sng" w="9525">
            <a:solidFill>
              <a:srgbClr val="8B4E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59" name="Google Shape;559;p55"/>
          <p:cNvSpPr/>
          <p:nvPr/>
        </p:nvSpPr>
        <p:spPr>
          <a:xfrm rot="8100000">
            <a:off x="6992872" y="2087722"/>
            <a:ext cx="1149756" cy="545604"/>
          </a:xfrm>
          <a:prstGeom prst="rect">
            <a:avLst/>
          </a:prstGeom>
          <a:solidFill>
            <a:srgbClr val="8B4EA0"/>
          </a:solidFill>
          <a:ln cap="flat" cmpd="sng" w="9525">
            <a:solidFill>
              <a:srgbClr val="8B4E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3" name="Shape 563"/>
        <p:cNvGrpSpPr/>
        <p:nvPr/>
      </p:nvGrpSpPr>
      <p:grpSpPr>
        <a:xfrm>
          <a:off x="0" y="0"/>
          <a:ext cx="0" cy="0"/>
          <a:chOff x="0" y="0"/>
          <a:chExt cx="0" cy="0"/>
        </a:xfrm>
      </p:grpSpPr>
      <p:sp>
        <p:nvSpPr>
          <p:cNvPr id="564" name="Google Shape;564;p5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56"/>
          <p:cNvSpPr txBox="1"/>
          <p:nvPr/>
        </p:nvSpPr>
        <p:spPr>
          <a:xfrm>
            <a:off x="284850" y="286800"/>
            <a:ext cx="4227300" cy="115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Project Overview:</a:t>
            </a:r>
            <a:endParaRPr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rPr lang="en" sz="3500">
                <a:solidFill>
                  <a:schemeClr val="accent1"/>
                </a:solidFill>
                <a:latin typeface="Inter"/>
                <a:ea typeface="Inter"/>
                <a:cs typeface="Inter"/>
                <a:sym typeface="Inter"/>
              </a:rPr>
              <a:t>Scope and Findings</a:t>
            </a:r>
            <a:endParaRPr sz="3500">
              <a:solidFill>
                <a:schemeClr val="accent1"/>
              </a:solidFill>
              <a:latin typeface="Inter"/>
              <a:ea typeface="Inter"/>
              <a:cs typeface="Inter"/>
              <a:sym typeface="Inter"/>
            </a:endParaRPr>
          </a:p>
        </p:txBody>
      </p:sp>
      <p:sp>
        <p:nvSpPr>
          <p:cNvPr id="566" name="Google Shape;566;p56"/>
          <p:cNvSpPr txBox="1"/>
          <p:nvPr/>
        </p:nvSpPr>
        <p:spPr>
          <a:xfrm>
            <a:off x="1739800" y="1447050"/>
            <a:ext cx="2772300" cy="2977800"/>
          </a:xfrm>
          <a:prstGeom prst="rect">
            <a:avLst/>
          </a:prstGeom>
          <a:noFill/>
          <a:ln>
            <a:noFill/>
          </a:ln>
        </p:spPr>
        <p:txBody>
          <a:bodyPr anchorCtr="0" anchor="t" bIns="0" lIns="0" spcFirstLastPara="1" rIns="182875" wrap="square" tIns="0">
            <a:noAutofit/>
          </a:bodyPr>
          <a:lstStyle/>
          <a:p>
            <a:pPr indent="0" lvl="0" marL="0" rtl="0" algn="l">
              <a:lnSpc>
                <a:spcPct val="115000"/>
              </a:lnSpc>
              <a:spcBef>
                <a:spcPts val="0"/>
              </a:spcBef>
              <a:spcAft>
                <a:spcPts val="0"/>
              </a:spcAft>
              <a:buNone/>
            </a:pPr>
            <a:r>
              <a:rPr lang="en" sz="1000">
                <a:solidFill>
                  <a:schemeClr val="dk1"/>
                </a:solidFill>
                <a:latin typeface="Inter Light"/>
                <a:ea typeface="Inter Light"/>
                <a:cs typeface="Inter Light"/>
                <a:sym typeface="Inter Light"/>
              </a:rPr>
              <a:t>The planned D Line (Purple Line) extension to Westwood/UCLA, scheduled to open ahead of the 2028 Los Angeles Olympic Games, raises the question of whether new transit access will accelerate gentrification in the surrounding Olympic Corridor.</a:t>
            </a:r>
            <a:endParaRPr sz="10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t/>
            </a:r>
            <a:endParaRPr sz="10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rPr lang="en" sz="1000">
                <a:solidFill>
                  <a:schemeClr val="dk1"/>
                </a:solidFill>
                <a:latin typeface="Inter Light"/>
                <a:ea typeface="Inter Light"/>
                <a:cs typeface="Inter Light"/>
                <a:sym typeface="Inter Light"/>
              </a:rPr>
              <a:t>We compute a CGRS to address this question and isolate the predicted effect of new transit accessibility from existing neighborhood conditions.</a:t>
            </a:r>
            <a:endParaRPr sz="10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t/>
            </a:r>
            <a:endParaRPr sz="10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rPr lang="en" sz="1000">
                <a:solidFill>
                  <a:schemeClr val="dk1"/>
                </a:solidFill>
                <a:latin typeface="Inter Light"/>
                <a:ea typeface="Inter Light"/>
                <a:cs typeface="Inter Light"/>
                <a:sym typeface="Inter Light"/>
              </a:rPr>
              <a:t>While listings within 0.5 miles of existing Metro stations had significantly higher CGRS, this study points to a potential "ceiling effect" where additional transit access produces limited further change.</a:t>
            </a:r>
            <a:endParaRPr sz="1000">
              <a:solidFill>
                <a:schemeClr val="dk1"/>
              </a:solidFill>
              <a:latin typeface="Inter Light"/>
              <a:ea typeface="Inter Light"/>
              <a:cs typeface="Inter Light"/>
              <a:sym typeface="Inter Light"/>
            </a:endParaRPr>
          </a:p>
        </p:txBody>
      </p:sp>
      <p:pic>
        <p:nvPicPr>
          <p:cNvPr descr="A modern metro station. " id="567" name="Google Shape;567;p56"/>
          <p:cNvPicPr preferRelativeResize="0"/>
          <p:nvPr/>
        </p:nvPicPr>
        <p:blipFill rotWithShape="1">
          <a:blip r:embed="rId3">
            <a:alphaModFix/>
          </a:blip>
          <a:srcRect b="6269" l="0" r="6358" t="9915"/>
          <a:stretch/>
        </p:blipFill>
        <p:spPr>
          <a:xfrm>
            <a:off x="4629750" y="0"/>
            <a:ext cx="4227300" cy="4679224"/>
          </a:xfrm>
          <a:prstGeom prst="rect">
            <a:avLst/>
          </a:prstGeom>
          <a:noFill/>
          <a:ln>
            <a:noFill/>
          </a:ln>
        </p:spPr>
      </p:pic>
      <p:sp>
        <p:nvSpPr>
          <p:cNvPr id="568" name="Google Shape;568;p56"/>
          <p:cNvSpPr/>
          <p:nvPr/>
        </p:nvSpPr>
        <p:spPr>
          <a:xfrm>
            <a:off x="5055205" y="653667"/>
            <a:ext cx="3376391" cy="3376391"/>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pic>
        <p:nvPicPr>
          <p:cNvPr descr="Young man looking at directional signs in metro station." id="569" name="Google Shape;569;p56"/>
          <p:cNvPicPr preferRelativeResize="0"/>
          <p:nvPr/>
        </p:nvPicPr>
        <p:blipFill rotWithShape="1">
          <a:blip r:embed="rId4">
            <a:alphaModFix/>
          </a:blip>
          <a:srcRect b="7105" l="0" r="6358" t="33335"/>
          <a:stretch/>
        </p:blipFill>
        <p:spPr>
          <a:xfrm>
            <a:off x="4629750" y="1307325"/>
            <a:ext cx="4227300" cy="3325148"/>
          </a:xfrm>
          <a:prstGeom prst="rect">
            <a:avLst/>
          </a:prstGeom>
          <a:noFill/>
          <a:ln>
            <a:noFill/>
          </a:ln>
        </p:spPr>
      </p:pic>
      <p:sp>
        <p:nvSpPr>
          <p:cNvPr id="570" name="Google Shape;570;p56"/>
          <p:cNvSpPr txBox="1"/>
          <p:nvPr/>
        </p:nvSpPr>
        <p:spPr>
          <a:xfrm>
            <a:off x="850230" y="1447050"/>
            <a:ext cx="7317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accent1"/>
                </a:solidFill>
                <a:latin typeface="Inter"/>
                <a:ea typeface="Inter"/>
                <a:cs typeface="Inter"/>
                <a:sym typeface="Inter"/>
              </a:rPr>
              <a:t>Abstract</a:t>
            </a:r>
            <a:endParaRPr sz="1000">
              <a:solidFill>
                <a:schemeClr val="accent1"/>
              </a:solidFill>
              <a:latin typeface="Inter"/>
              <a:ea typeface="Inter"/>
              <a:cs typeface="Inter"/>
              <a:sym typeface="Inter"/>
            </a:endParaRPr>
          </a:p>
        </p:txBody>
      </p:sp>
      <p:sp>
        <p:nvSpPr>
          <p:cNvPr id="571" name="Google Shape;571;p56"/>
          <p:cNvSpPr/>
          <p:nvPr/>
        </p:nvSpPr>
        <p:spPr>
          <a:xfrm>
            <a:off x="284875" y="1369100"/>
            <a:ext cx="345900" cy="3459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lt1"/>
                </a:solidFill>
                <a:latin typeface="Inter"/>
                <a:ea typeface="Inter"/>
                <a:cs typeface="Inter"/>
                <a:sym typeface="Inter"/>
              </a:rPr>
              <a:t>01</a:t>
            </a:r>
            <a:endParaRPr sz="1200">
              <a:solidFill>
                <a:schemeClr val="lt1"/>
              </a:solidFill>
              <a:latin typeface="Inter"/>
              <a:ea typeface="Inter"/>
              <a:cs typeface="Inter"/>
              <a:sym typeface="Inter"/>
            </a:endParaRPr>
          </a:p>
        </p:txBody>
      </p:sp>
      <p:cxnSp>
        <p:nvCxnSpPr>
          <p:cNvPr id="572" name="Google Shape;572;p5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573" name="Google Shape;573;p56"/>
          <p:cNvSpPr txBox="1"/>
          <p:nvPr>
            <p:ph idx="3"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574" name="Google Shape;574;p56"/>
          <p:cNvSpPr txBox="1"/>
          <p:nvPr>
            <p:ph idx="4"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575" name="Google Shape;575;p56"/>
          <p:cNvSpPr txBox="1"/>
          <p:nvPr>
            <p:ph idx="3"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9" name="Shape 579"/>
        <p:cNvGrpSpPr/>
        <p:nvPr/>
      </p:nvGrpSpPr>
      <p:grpSpPr>
        <a:xfrm>
          <a:off x="0" y="0"/>
          <a:ext cx="0" cy="0"/>
          <a:chOff x="0" y="0"/>
          <a:chExt cx="0" cy="0"/>
        </a:xfrm>
      </p:grpSpPr>
      <p:sp>
        <p:nvSpPr>
          <p:cNvPr id="580" name="Google Shape;580;p5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57"/>
          <p:cNvSpPr txBox="1"/>
          <p:nvPr>
            <p:ph type="title"/>
          </p:nvPr>
        </p:nvSpPr>
        <p:spPr>
          <a:xfrm>
            <a:off x="283850" y="285900"/>
            <a:ext cx="5674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Project Objectives</a:t>
            </a:r>
            <a:endParaRPr/>
          </a:p>
        </p:txBody>
      </p:sp>
      <p:sp>
        <p:nvSpPr>
          <p:cNvPr id="582" name="Google Shape;582;p57"/>
          <p:cNvSpPr txBox="1"/>
          <p:nvPr>
            <p:ph idx="1" type="body"/>
          </p:nvPr>
        </p:nvSpPr>
        <p:spPr>
          <a:xfrm>
            <a:off x="2457450" y="37169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 Gentrification Risk</a:t>
            </a:r>
            <a:endParaRPr b="1"/>
          </a:p>
          <a:p>
            <a:pPr indent="0" lvl="0" marL="0" rtl="0" algn="l">
              <a:spcBef>
                <a:spcPts val="0"/>
              </a:spcBef>
              <a:spcAft>
                <a:spcPts val="0"/>
              </a:spcAft>
              <a:buNone/>
            </a:pPr>
            <a:r>
              <a:rPr lang="en"/>
              <a:t>Create a Composite Gentrification</a:t>
            </a:r>
            <a:endParaRPr/>
          </a:p>
          <a:p>
            <a:pPr indent="0" lvl="0" marL="0" rtl="0" algn="l">
              <a:spcBef>
                <a:spcPts val="0"/>
              </a:spcBef>
              <a:spcAft>
                <a:spcPts val="0"/>
              </a:spcAft>
              <a:buNone/>
            </a:pPr>
            <a:r>
              <a:rPr lang="en"/>
              <a:t>Risk Score using rent, rent appreciation, price per square foot, and education change.</a:t>
            </a:r>
            <a:endParaRPr/>
          </a:p>
          <a:p>
            <a:pPr indent="0" lvl="0" marL="0" rtl="0" algn="l">
              <a:spcBef>
                <a:spcPts val="0"/>
              </a:spcBef>
              <a:spcAft>
                <a:spcPts val="0"/>
              </a:spcAft>
              <a:buNone/>
            </a:pPr>
            <a:r>
              <a:t/>
            </a:r>
            <a:endParaRPr b="1"/>
          </a:p>
        </p:txBody>
      </p:sp>
      <p:sp>
        <p:nvSpPr>
          <p:cNvPr id="583" name="Google Shape;583;p57"/>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Compare Metro Proximity</a:t>
            </a:r>
            <a:endParaRPr b="1"/>
          </a:p>
          <a:p>
            <a:pPr indent="0" lvl="0" marL="0" rtl="0" algn="l">
              <a:spcBef>
                <a:spcPts val="0"/>
              </a:spcBef>
              <a:spcAft>
                <a:spcPts val="0"/>
              </a:spcAft>
              <a:buNone/>
            </a:pPr>
            <a:r>
              <a:rPr lang="en"/>
              <a:t>Compare rent listings near Metro stations with listing farther away to see whether closer areas show higher gentrification risk.</a:t>
            </a:r>
            <a:endParaRPr/>
          </a:p>
        </p:txBody>
      </p:sp>
      <p:sp>
        <p:nvSpPr>
          <p:cNvPr id="584" name="Google Shape;584;p57"/>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Forecast D Line Impact</a:t>
            </a:r>
            <a:endParaRPr b="1"/>
          </a:p>
          <a:p>
            <a:pPr indent="0" lvl="0" marL="0" rtl="0" algn="l">
              <a:spcBef>
                <a:spcPts val="0"/>
              </a:spcBef>
              <a:spcAft>
                <a:spcPts val="0"/>
              </a:spcAft>
              <a:buNone/>
            </a:pPr>
            <a:r>
              <a:rPr lang="en"/>
              <a:t>Use predictive models to estimate whether the future D line Extension could add gentrification pressure to the Olympic Corridor.</a:t>
            </a:r>
            <a:endParaRPr/>
          </a:p>
          <a:p>
            <a:pPr indent="0" lvl="0" marL="0" rtl="0" algn="l">
              <a:spcBef>
                <a:spcPts val="0"/>
              </a:spcBef>
              <a:spcAft>
                <a:spcPts val="0"/>
              </a:spcAft>
              <a:buNone/>
            </a:pPr>
            <a:r>
              <a:rPr lang="en"/>
              <a:t> </a:t>
            </a:r>
            <a:endParaRPr/>
          </a:p>
        </p:txBody>
      </p:sp>
      <p:sp>
        <p:nvSpPr>
          <p:cNvPr id="585" name="Google Shape;585;p57"/>
          <p:cNvSpPr/>
          <p:nvPr/>
        </p:nvSpPr>
        <p:spPr>
          <a:xfrm>
            <a:off x="2456701" y="3100825"/>
            <a:ext cx="493800" cy="493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01</a:t>
            </a:r>
            <a:endParaRPr>
              <a:solidFill>
                <a:schemeClr val="dk1"/>
              </a:solidFill>
              <a:latin typeface="Inter"/>
              <a:ea typeface="Inter"/>
              <a:cs typeface="Inter"/>
              <a:sym typeface="Inter"/>
            </a:endParaRPr>
          </a:p>
        </p:txBody>
      </p:sp>
      <p:sp>
        <p:nvSpPr>
          <p:cNvPr id="586" name="Google Shape;586;p57"/>
          <p:cNvSpPr/>
          <p:nvPr/>
        </p:nvSpPr>
        <p:spPr>
          <a:xfrm>
            <a:off x="4655042" y="3100836"/>
            <a:ext cx="493800" cy="493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02</a:t>
            </a:r>
            <a:endParaRPr>
              <a:solidFill>
                <a:schemeClr val="dk1"/>
              </a:solidFill>
              <a:latin typeface="Inter"/>
              <a:ea typeface="Inter"/>
              <a:cs typeface="Inter"/>
              <a:sym typeface="Inter"/>
            </a:endParaRPr>
          </a:p>
        </p:txBody>
      </p:sp>
      <p:sp>
        <p:nvSpPr>
          <p:cNvPr id="587" name="Google Shape;587;p57"/>
          <p:cNvSpPr/>
          <p:nvPr/>
        </p:nvSpPr>
        <p:spPr>
          <a:xfrm>
            <a:off x="6801409" y="3100825"/>
            <a:ext cx="493800" cy="493800"/>
          </a:xfrm>
          <a:prstGeom prst="ellipse">
            <a:avLst/>
          </a:prstGeom>
          <a:solidFill>
            <a:srgbClr val="8B4EA0"/>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Inter"/>
                <a:ea typeface="Inter"/>
                <a:cs typeface="Inter"/>
                <a:sym typeface="Inter"/>
              </a:rPr>
              <a:t>03</a:t>
            </a:r>
            <a:endParaRPr>
              <a:solidFill>
                <a:schemeClr val="dk1"/>
              </a:solidFill>
              <a:latin typeface="Inter"/>
              <a:ea typeface="Inter"/>
              <a:cs typeface="Inter"/>
              <a:sym typeface="Inter"/>
            </a:endParaRPr>
          </a:p>
        </p:txBody>
      </p:sp>
      <p:cxnSp>
        <p:nvCxnSpPr>
          <p:cNvPr id="588" name="Google Shape;588;p57"/>
          <p:cNvCxnSpPr/>
          <p:nvPr/>
        </p:nvCxnSpPr>
        <p:spPr>
          <a:xfrm>
            <a:off x="283850" y="29101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589" name="Google Shape;589;p57"/>
          <p:cNvCxnSpPr/>
          <p:nvPr/>
        </p:nvCxnSpPr>
        <p:spPr>
          <a:xfrm>
            <a:off x="283850" y="4683725"/>
            <a:ext cx="8573100" cy="0"/>
          </a:xfrm>
          <a:prstGeom prst="straightConnector1">
            <a:avLst/>
          </a:prstGeom>
          <a:noFill/>
          <a:ln cap="flat" cmpd="sng" w="9525">
            <a:solidFill>
              <a:schemeClr val="lt1"/>
            </a:solidFill>
            <a:prstDash val="solid"/>
            <a:round/>
            <a:headEnd len="med" w="med" type="none"/>
            <a:tailEnd len="med" w="med" type="none"/>
          </a:ln>
        </p:spPr>
      </p:cxnSp>
      <p:sp>
        <p:nvSpPr>
          <p:cNvPr id="590" name="Google Shape;590;p57"/>
          <p:cNvSpPr txBox="1"/>
          <p:nvPr>
            <p:ph idx="2" type="title"/>
          </p:nvPr>
        </p:nvSpPr>
        <p:spPr>
          <a:xfrm>
            <a:off x="3590650" y="4778975"/>
            <a:ext cx="26283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Jon Darius, Mercy Eme, Judith Mendoz, Layla Rainosek, Daniel Rocha</a:t>
            </a:r>
            <a:endParaRPr/>
          </a:p>
        </p:txBody>
      </p:sp>
      <p:sp>
        <p:nvSpPr>
          <p:cNvPr id="591" name="Google Shape;591;p57"/>
          <p:cNvSpPr txBox="1"/>
          <p:nvPr>
            <p:ph idx="3" type="title"/>
          </p:nvPr>
        </p:nvSpPr>
        <p:spPr>
          <a:xfrm>
            <a:off x="75284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06092026</a:t>
            </a:r>
            <a:endParaRPr/>
          </a:p>
        </p:txBody>
      </p:sp>
      <p:sp>
        <p:nvSpPr>
          <p:cNvPr id="592" name="Google Shape;592;p57"/>
          <p:cNvSpPr txBox="1"/>
          <p:nvPr>
            <p:ph idx="2" type="title"/>
          </p:nvPr>
        </p:nvSpPr>
        <p:spPr>
          <a:xfrm>
            <a:off x="284850" y="4778975"/>
            <a:ext cx="2628300" cy="762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a:t>UCLA MASDS STATS 405 Final Project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